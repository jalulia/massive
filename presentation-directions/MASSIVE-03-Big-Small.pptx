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5b2a242d14fb3" /><Relationship Type="http://schemas.openxmlformats.org/officeDocument/2006/relationships/extended-properties" Target="/docProps/app.xml" Id="Re1684f3e5ab4437c" /><Relationship Type="http://schemas.openxmlformats.org/officeDocument/2006/relationships/officeDocument" Target="/ppt/presentation.xml" Id="R047434a80a724d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ff51d21744780"/>
  </p:sldMasterIdLst>
  <p:notesMasterIdLst>
    <p:notesMasterId xmlns:r="http://schemas.openxmlformats.org/officeDocument/2006/relationships" r:id="Rfeeddc8e9db54f1f"/>
  </p:notesMasterIdLst>
  <p:sldIdLst>
    <p:sldId xmlns:r="http://schemas.openxmlformats.org/officeDocument/2006/relationships" id="256" r:id="R91a7bec1aacc459d"/>
    <p:sldId xmlns:r="http://schemas.openxmlformats.org/officeDocument/2006/relationships" id="257" r:id="R4cf7677875324e4d"/>
    <p:sldId xmlns:r="http://schemas.openxmlformats.org/officeDocument/2006/relationships" id="258" r:id="R4f29dba751604cab"/>
    <p:sldId xmlns:r="http://schemas.openxmlformats.org/officeDocument/2006/relationships" id="259" r:id="R26702cd608814b44"/>
    <p:sldId xmlns:r="http://schemas.openxmlformats.org/officeDocument/2006/relationships" id="260" r:id="Rc7c192e7384743e2"/>
    <p:sldId xmlns:r="http://schemas.openxmlformats.org/officeDocument/2006/relationships" id="261" r:id="R861cd32bad724b79"/>
    <p:sldId xmlns:r="http://schemas.openxmlformats.org/officeDocument/2006/relationships" id="262" r:id="Rc6a36210e89d40b3"/>
    <p:sldId xmlns:r="http://schemas.openxmlformats.org/officeDocument/2006/relationships" id="263" r:id="R3a00d383a43544b2"/>
    <p:sldId xmlns:r="http://schemas.openxmlformats.org/officeDocument/2006/relationships" id="264" r:id="R709f63a2be2c43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9d08c643b24e09" /><Relationship Type="http://schemas.openxmlformats.org/officeDocument/2006/relationships/slideMaster" Target="/ppt/slideMasters/slideMaster1.xml" Id="R182ff51d21744780" /><Relationship Type="http://schemas.openxmlformats.org/officeDocument/2006/relationships/notesMaster" Target="/ppt/notesMasters/notesMaster1.xml" Id="Rfeeddc8e9db54f1f" /><Relationship Type="http://schemas.openxmlformats.org/officeDocument/2006/relationships/presProps" Target="/ppt/presProps.xml" Id="R65623e57b6fa46cb" /><Relationship Type="http://schemas.openxmlformats.org/officeDocument/2006/relationships/tableStyles" Target="/ppt/tableStyles.xml" Id="R52ef869f252e4f77" /><Relationship Type="http://schemas.openxmlformats.org/officeDocument/2006/relationships/slide" Target="/ppt/slides/slide1.xml" Id="R91a7bec1aacc459d" /><Relationship Type="http://schemas.openxmlformats.org/officeDocument/2006/relationships/slide" Target="/ppt/slides/slide2.xml" Id="R4cf7677875324e4d" /><Relationship Type="http://schemas.openxmlformats.org/officeDocument/2006/relationships/slide" Target="/ppt/slides/slide3.xml" Id="R4f29dba751604cab" /><Relationship Type="http://schemas.openxmlformats.org/officeDocument/2006/relationships/slide" Target="/ppt/slides/slide4.xml" Id="R26702cd608814b44" /><Relationship Type="http://schemas.openxmlformats.org/officeDocument/2006/relationships/slide" Target="/ppt/slides/slide5.xml" Id="Rc7c192e7384743e2" /><Relationship Type="http://schemas.openxmlformats.org/officeDocument/2006/relationships/slide" Target="/ppt/slides/slide6.xml" Id="R861cd32bad724b79" /><Relationship Type="http://schemas.openxmlformats.org/officeDocument/2006/relationships/slide" Target="/ppt/slides/slide7.xml" Id="Rc6a36210e89d40b3" /><Relationship Type="http://schemas.openxmlformats.org/officeDocument/2006/relationships/slide" Target="/ppt/slides/slide8.xml" Id="R3a00d383a43544b2" /><Relationship Type="http://schemas.openxmlformats.org/officeDocument/2006/relationships/slide" Target="/ppt/slides/slide9.xml" Id="R709f63a2be2c43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c4afe3ae8b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d1df71ce974ce1" /><Relationship Type="http://schemas.openxmlformats.org/officeDocument/2006/relationships/notesMaster" Target="/ppt/notesMasters/notesMaster1.xml" Id="R55e783dec78c41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513474274f4856" /><Relationship Type="http://schemas.openxmlformats.org/officeDocument/2006/relationships/notesMaster" Target="/ppt/notesMasters/notesMaster1.xml" Id="R0843616a981a45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d4331461754bb2" /><Relationship Type="http://schemas.openxmlformats.org/officeDocument/2006/relationships/notesMaster" Target="/ppt/notesMasters/notesMaster1.xml" Id="R24d75def957d4d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701326713741e6" /><Relationship Type="http://schemas.openxmlformats.org/officeDocument/2006/relationships/notesMaster" Target="/ppt/notesMasters/notesMaster1.xml" Id="Rdcf4158d931643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ffa181e4234c63" /><Relationship Type="http://schemas.openxmlformats.org/officeDocument/2006/relationships/notesMaster" Target="/ppt/notesMasters/notesMaster1.xml" Id="R6c27965b70194b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e9e48d864b4ff0" /><Relationship Type="http://schemas.openxmlformats.org/officeDocument/2006/relationships/notesMaster" Target="/ppt/notesMasters/notesMaster1.xml" Id="R5adfbb643f774c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1755949df64672" /><Relationship Type="http://schemas.openxmlformats.org/officeDocument/2006/relationships/notesMaster" Target="/ppt/notesMasters/notesMaster1.xml" Id="Re735eb647c334d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947cc77a494783" /><Relationship Type="http://schemas.openxmlformats.org/officeDocument/2006/relationships/notesMaster" Target="/ppt/notesMasters/notesMaster1.xml" Id="Rb452cdc7ddf44e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e79bb4897e4803" /><Relationship Type="http://schemas.openxmlformats.org/officeDocument/2006/relationships/notesMaster" Target="/ppt/notesMasters/notesMaster1.xml" Id="R4b54e0ea380f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Powers of Ten still © Eames Office, https://www.eamesoffice.com/the-work/powers-of-ten/. COSMOS and Flatland are influences named by Matt; personal story and signed-book photograph remain editorial inputs, not depicted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Ordinary gameplay uses a shared XZ plane. The flat-player premise is artistic and functional; colliders and effects have volume. Prior LATTICE capture, 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Experiment photograph: Harvard Natural Sciences Lecture Demonstrations, https://sciencedemonstrations.fas.harvard.edu/presentations/big-chladni-plate. Sand collects at nodal lines on a vibrating plate. MASSIVE's Resonance uses authored Chladni-inspired curves; it is not a sand or plate solver.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Orbital-inspired game distributions share a density function with encounter probability. Shape basis: https://ocw.mit.edu/courses/18-755-lie-groups-and-lie-algebras-ii-spring-2024/mit18_755_s24_lec12.pdf. Not calibrated atomic wavefunctions; an impact ellipse is feedback, not an electron trajectory.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NASA conceptual animation: NASA Goddard/CIL/Wes Buchanan, Krystofer Kim, https://svs.gsfc.nasa.gov/14892. The active DYNAMO level uses an authored organic field and storm envelope. SWMF/BATS-R-US snapshots remain a separate reference prototype and do not currently drive gameplay storms.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SINGULARITY connects a continuous folded surface. Portal travel is an authored nonlethal passage; it does not model a traversable astrophysical black hole. Use a full uninterrupted traversal before showing the held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COSMOS is an art-directed evolving cosmic web, not a predictive cosmological solver. EMERGENCE combines local attraction/repulsion with authored organism recognition and metabolism; it does not reconstruct the origin of life. Both shown in new 15 October captures.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direction study for Matt Fry's MOMI talk, 17 October 2026. Sources: https://mattfryed.notion.site/MASSIVE-11e617c6d8ae4eeda7f0424645db5203. Current repo mattfryed/massive, commit 27a3e7ce. Captures with scripted movement through real input, silent, not human play. New captures ORBITAL/DYNAMO/COSMOS/EMERGENCE from 15 October checkout. Existing visual studies and isolated footage use September / 6 October states and illustrate the visual system; they do not certify final event capture. Sparse closing screen; return to the player and use Matt’s own closing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251fe2b1b49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1bdd237e543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8508d64344d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c0a25e2d442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899630d4e4a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3db99650549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A1898D-2832-40A9-8E99-A17EB7E40A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E5E8CC7-3BDB-4ADB-ABEA-4C568CC736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BBADF06-5F9E-4F22-A533-628F6ABD2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51C343-D289-4BBA-B9C1-3650E331C7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AFFB239-AC13-40D3-9E16-71F4BB05A8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7EA35A-C3C2-495C-9D80-B93388ED15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31013C-7710-40BC-9C86-CCBBBC73F7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E038A3F-4A70-4E75-8A23-721BC068C2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CE84F5-9DBC-41F0-862D-D964EAA830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CAD662-F2BF-40FD-BDAD-CFC4CC628D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aed12cd81d4d70" /><Relationship Type="http://schemas.openxmlformats.org/officeDocument/2006/relationships/slideLayout" Target="/ppt/slideLayouts/slideLayout1.xml" Id="R14b105388d9b4902" /><Relationship Type="http://schemas.openxmlformats.org/officeDocument/2006/relationships/slideLayout" Target="/ppt/slideLayouts/slideLayout2.xml" Id="R898d45217a944124" /><Relationship Type="http://schemas.openxmlformats.org/officeDocument/2006/relationships/slideLayout" Target="/ppt/slideLayouts/slideLayout3.xml" Id="Rbfbd6ffb63204318" /><Relationship Type="http://schemas.openxmlformats.org/officeDocument/2006/relationships/slideLayout" Target="/ppt/slideLayouts/slideLayout4.xml" Id="R5585e1d92479421f" /><Relationship Type="http://schemas.openxmlformats.org/officeDocument/2006/relationships/slideLayout" Target="/ppt/slideLayouts/slideLayout5.xml" Id="R123393cecf274101" /><Relationship Type="http://schemas.openxmlformats.org/officeDocument/2006/relationships/slideLayout" Target="/ppt/slideLayouts/slideLayout6.xml" Id="R26053491c1974b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b105388d9b4902"/>
    <p:sldLayoutId xmlns:r="http://schemas.openxmlformats.org/officeDocument/2006/relationships" id="2147483650" r:id="R898d45217a944124"/>
    <p:sldLayoutId xmlns:r="http://schemas.openxmlformats.org/officeDocument/2006/relationships" id="2147483651" r:id="Rbfbd6ffb63204318"/>
    <p:sldLayoutId xmlns:r="http://schemas.openxmlformats.org/officeDocument/2006/relationships" id="2147483652" r:id="R5585e1d92479421f"/>
    <p:sldLayoutId xmlns:r="http://schemas.openxmlformats.org/officeDocument/2006/relationships" id="2147483653" r:id="R123393cecf274101"/>
    <p:sldLayoutId xmlns:r="http://schemas.openxmlformats.org/officeDocument/2006/relationships" id="2147483654" r:id="R26053491c1974b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19304c66947c8" /><Relationship Type="http://schemas.openxmlformats.org/officeDocument/2006/relationships/image" Target="/ppt/media/image.jpeg" Id="R5aef2e9946e643d3" /><Relationship Type="http://schemas.openxmlformats.org/officeDocument/2006/relationships/notesSlide" Target="/ppt/notesSlides/notesSlide1.xml" Id="R4c119dc885c84a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e91342c8264066" /><Relationship Type="http://schemas.openxmlformats.org/officeDocument/2006/relationships/image" Target="/ppt/media/image2.jpeg" Id="R468fa698f64441be" /><Relationship Type="http://schemas.openxmlformats.org/officeDocument/2006/relationships/notesSlide" Target="/ppt/notesSlides/notesSlide2.xml" Id="R11bd99ea09e044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ec5f768ce468e" /><Relationship Type="http://schemas.openxmlformats.org/officeDocument/2006/relationships/image" Target="/ppt/media/image.png" Id="R84c0c1a59a3f4d83" /><Relationship Type="http://schemas.openxmlformats.org/officeDocument/2006/relationships/notesSlide" Target="/ppt/notesSlides/notesSlide3.xml" Id="R574cd98766dd4a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5095a05434017" /><Relationship Type="http://schemas.openxmlformats.org/officeDocument/2006/relationships/image" Target="/ppt/media/image3.jpeg" Id="Rb6733ab431614fb9" /><Relationship Type="http://schemas.openxmlformats.org/officeDocument/2006/relationships/image" Target="/ppt/media/image4.jpeg" Id="Ra5f2858a1a014003" /><Relationship Type="http://schemas.openxmlformats.org/officeDocument/2006/relationships/notesSlide" Target="/ppt/notesSlides/notesSlide4.xml" Id="Re6fd0bea5dda45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c45f7440f481e" /><Relationship Type="http://schemas.openxmlformats.org/officeDocument/2006/relationships/image" Target="/ppt/media/image5.jpeg" Id="R47637618749f4f74" /><Relationship Type="http://schemas.openxmlformats.org/officeDocument/2006/relationships/notesSlide" Target="/ppt/notesSlides/notesSlide5.xml" Id="R4ee7186aea3f48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e03173a5b9429c" /><Relationship Type="http://schemas.openxmlformats.org/officeDocument/2006/relationships/image" Target="/ppt/media/image6.jpeg" Id="R1ec8927000584737" /><Relationship Type="http://schemas.openxmlformats.org/officeDocument/2006/relationships/image" Target="/ppt/media/image2.png" Id="R7b4204bde7af4112" /><Relationship Type="http://schemas.openxmlformats.org/officeDocument/2006/relationships/notesSlide" Target="/ppt/notesSlides/notesSlide6.xml" Id="R89dda045789e42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af990774940a2" /><Relationship Type="http://schemas.openxmlformats.org/officeDocument/2006/relationships/image" Target="/ppt/media/image3.png" Id="R3cbba2ddae4d4abc" /><Relationship Type="http://schemas.openxmlformats.org/officeDocument/2006/relationships/notesSlide" Target="/ppt/notesSlides/notesSlide7.xml" Id="R457393a3ec014e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b15e25492e49e8" /><Relationship Type="http://schemas.openxmlformats.org/officeDocument/2006/relationships/image" Target="/ppt/media/image4.png" Id="R48071962abd44ee5" /><Relationship Type="http://schemas.openxmlformats.org/officeDocument/2006/relationships/image" Target="/ppt/media/image5.png" Id="Ra3822b12258c4a58" /><Relationship Type="http://schemas.openxmlformats.org/officeDocument/2006/relationships/notesSlide" Target="/ppt/notesSlides/notesSlide8.xml" Id="R5b1c5106cd2147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709871d61434d" /><Relationship Type="http://schemas.openxmlformats.org/officeDocument/2006/relationships/notesSlide" Target="/ppt/notesSlides/notesSlide9.xml" Id="R23bcf736540441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02751-84C7-4BEA-90BC-D4D120F759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ef2e9946e643d3"/>
          <a:srcRect xmlns:a="http://schemas.openxmlformats.org/drawingml/2006/main" l="0" t="4861" r="0" b="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66750"/>
            <a:ext cx="1219200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2CA0F776-BD85-497A-8FFD-BBA16D34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ASSIVE">
            <a:extLst xmlns:a="http://schemas.openxmlformats.org/drawingml/2006/main">
              <a:ext uri="{FF2B5EF4-FFF2-40B4-BE49-F238E27FC236}">
                <a16:creationId xmlns:a16="http://schemas.microsoft.com/office/drawing/2014/main" id="{8D1BC41A-318C-4F2D-AF35-EA05A8F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11353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8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8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138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MASSIVE</a:t>
            </a:r>
          </a:p>
        </p:txBody>
      </p:sp>
      <p:sp>
        <p:nvSpPr>
          <p:cNvPr id="4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FEBE4D9E-0996-446B-9929-F50660A2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 small place in a larger world">
            <a:extLst xmlns:a="http://schemas.openxmlformats.org/drawingml/2006/main">
              <a:ext uri="{FF2B5EF4-FFF2-40B4-BE49-F238E27FC236}">
                <a16:creationId xmlns:a16="http://schemas.microsoft.com/office/drawing/2014/main" id="{C2568527-AED0-4448-8DFD-2FF35CA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52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A small place in a larger world</a:t>
            </a:r>
          </a:p>
        </p:txBody>
      </p:sp>
      <p:sp>
        <p:nvSpPr>
          <p:cNvPr id="6" name="Matt Fry / Museum of the Moving Image">
            <a:extLst xmlns:a="http://schemas.openxmlformats.org/drawingml/2006/main">
              <a:ext uri="{FF2B5EF4-FFF2-40B4-BE49-F238E27FC236}">
                <a16:creationId xmlns:a16="http://schemas.microsoft.com/office/drawing/2014/main" id="{89C063D6-AD54-41CF-A6A6-85D8205D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defRPr>
            </a:pPr>
            <a:r>
              <a: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rPr>
              <a:t>Matt Fry / Museum of the Moving Image</a:t>
            </a:r>
          </a:p>
        </p:txBody>
      </p:sp>
    </p:spTree>
    <p:extLst>
      <p:ext uri="{BB962C8B-B14F-4D97-AF65-F5344CB8AC3E}">
        <p14:creationId xmlns:p14="http://schemas.microsoft.com/office/powerpoint/2010/main" val="693154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ook closer">
            <a:extLst xmlns:a="http://schemas.openxmlformats.org/drawingml/2006/main">
              <a:ext uri="{FF2B5EF4-FFF2-40B4-BE49-F238E27FC236}">
                <a16:creationId xmlns:a16="http://schemas.microsoft.com/office/drawing/2014/main" id="{3BD6F523-0736-44F6-85E7-84E157D6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108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Look closer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74A5C-2519-4C44-A564-566E36A0F7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fa698f64441be"/>
          <a:srcRect xmlns:a="http://schemas.openxmlformats.org/drawingml/2006/main" l="0" t="7242" r="0" b="7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038350"/>
            <a:ext cx="6705600" cy="4267200"/>
          </a:xfrm>
          <a:prstGeom xmlns:a="http://schemas.openxmlformats.org/drawingml/2006/main" prst="rect">
            <a:avLst/>
          </a:prstGeom>
        </p:spPr>
      </p:pic>
      <p:sp>
        <p:nvSpPr>
          <p:cNvPr id="3" name="COSMOS">
            <a:extLst xmlns:a="http://schemas.openxmlformats.org/drawingml/2006/main">
              <a:ext uri="{FF2B5EF4-FFF2-40B4-BE49-F238E27FC236}">
                <a16:creationId xmlns:a16="http://schemas.microsoft.com/office/drawing/2014/main" id="{AD300230-8268-4613-90E5-4215A816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5267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COSMOS</a:t>
            </a:r>
          </a:p>
        </p:txBody>
      </p:sp>
      <p:sp>
        <p:nvSpPr>
          <p:cNvPr id="4" name="Flatland">
            <a:extLst xmlns:a="http://schemas.openxmlformats.org/drawingml/2006/main">
              <a:ext uri="{FF2B5EF4-FFF2-40B4-BE49-F238E27FC236}">
                <a16:creationId xmlns:a16="http://schemas.microsoft.com/office/drawing/2014/main" id="{2505A134-2454-457D-BE30-78F0F80B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7662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52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Flatland</a:t>
            </a:r>
          </a:p>
        </p:txBody>
      </p:sp>
      <p:sp>
        <p:nvSpPr>
          <p:cNvPr id="5" name="Powers&#10;of Ten">
            <a:extLst xmlns:a="http://schemas.openxmlformats.org/drawingml/2006/main">
              <a:ext uri="{FF2B5EF4-FFF2-40B4-BE49-F238E27FC236}">
                <a16:creationId xmlns:a16="http://schemas.microsoft.com/office/drawing/2014/main" id="{769A5AD6-3473-4596-8DF9-5F29F09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00575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2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42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Powers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2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4275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of Ten</a:t>
            </a:r>
          </a:p>
        </p:txBody>
      </p:sp>
    </p:spTree>
    <p:extLst>
      <p:ext uri="{BB962C8B-B14F-4D97-AF65-F5344CB8AC3E}">
        <p14:creationId xmlns:p14="http://schemas.microsoft.com/office/powerpoint/2010/main" val="2035824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ne plane">
            <a:extLst xmlns:a="http://schemas.openxmlformats.org/drawingml/2006/main">
              <a:ext uri="{FF2B5EF4-FFF2-40B4-BE49-F238E27FC236}">
                <a16:creationId xmlns:a16="http://schemas.microsoft.com/office/drawing/2014/main" id="{20BEB5D1-4E53-4CD1-916D-FF0C604B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3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103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One plane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F73E9-1EDD-4DDF-96C5-69F39C0473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0c1a59a3f4d83"/>
          <a:stretch xmlns:a="http://schemas.openxmlformats.org/drawingml/2006/main"/>
        </p:blipFill>
        <p:spPr>
          <a:xfrm xmlns:a="http://schemas.openxmlformats.org/drawingml/2006/main">
            <a:off x="1693333" y="1714500"/>
            <a:ext cx="8805333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88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sonance">
            <a:extLst xmlns:a="http://schemas.openxmlformats.org/drawingml/2006/main">
              <a:ext uri="{FF2B5EF4-FFF2-40B4-BE49-F238E27FC236}">
                <a16:creationId xmlns:a16="http://schemas.microsoft.com/office/drawing/2014/main" id="{45B1CA2E-C707-4A6E-A7C9-676F355D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11277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2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2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102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Resonance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CD79D-78C3-42C6-9DB7-EFABA6CDA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33ab431614fb9"/>
          <a:stretch xmlns:a="http://schemas.openxmlformats.org/drawingml/2006/main"/>
        </p:blipFill>
        <p:spPr>
          <a:xfrm xmlns:a="http://schemas.openxmlformats.org/drawingml/2006/main">
            <a:off x="457200" y="2508424"/>
            <a:ext cx="3524250" cy="2641251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78B85-B4F9-4B4C-B110-A72E7C0FEE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2858a1a014003"/>
          <a:srcRect xmlns:a="http://schemas.openxmlformats.org/drawingml/2006/main" l="0" t="7478" r="0" b="74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038350"/>
            <a:ext cx="7486650" cy="3581400"/>
          </a:xfrm>
          <a:prstGeom xmlns:a="http://schemas.openxmlformats.org/drawingml/2006/main" prst="rect">
            <a:avLst/>
          </a:prstGeom>
        </p:spPr>
      </p:pic>
      <p:sp>
        <p:nvSpPr>
          <p:cNvPr id="4" name="Experiment / Harvard">
            <a:extLst xmlns:a="http://schemas.openxmlformats.org/drawingml/2006/main">
              <a:ext uri="{FF2B5EF4-FFF2-40B4-BE49-F238E27FC236}">
                <a16:creationId xmlns:a16="http://schemas.microsoft.com/office/drawing/2014/main" id="{BE092AE9-6AB2-4BF8-A25A-5A2A29A9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ABABA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ABABA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BABABA"/>
                </a:solidFill>
                <a:latin typeface="Input Mono"/>
                <a:ea typeface="Input Mono"/>
                <a:cs typeface="Input Mono"/>
              </a:rPr>
              <a:t>Experiment / Harvard</a:t>
            </a:r>
          </a:p>
        </p:txBody>
      </p:sp>
      <p:sp>
        <p:nvSpPr>
          <p:cNvPr id="5" name="Game interpretation / MASSIVE">
            <a:extLst xmlns:a="http://schemas.openxmlformats.org/drawingml/2006/main">
              <a:ext uri="{FF2B5EF4-FFF2-40B4-BE49-F238E27FC236}">
                <a16:creationId xmlns:a16="http://schemas.microsoft.com/office/drawing/2014/main" id="{0167F53F-2D08-4FF8-A2F1-BC5E5283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76950"/>
            <a:ext cx="554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ABABA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ABABA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BABABA"/>
                </a:solidFill>
                <a:latin typeface="Input Mono"/>
                <a:ea typeface="Input Mono"/>
                <a:cs typeface="Input Mono"/>
              </a:rPr>
              <a:t>Game interpretation / MASSIVE</a:t>
            </a:r>
          </a:p>
        </p:txBody>
      </p:sp>
    </p:spTree>
    <p:extLst>
      <p:ext uri="{BB962C8B-B14F-4D97-AF65-F5344CB8AC3E}">
        <p14:creationId xmlns:p14="http://schemas.microsoft.com/office/powerpoint/2010/main" val="1259544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5299-BF37-423B-A511-CA317A1F55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37618749f4f74"/>
          <a:srcRect xmlns:a="http://schemas.openxmlformats.org/drawingml/2006/main" l="13654" t="0" r="136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0" y="285750"/>
            <a:ext cx="8001000" cy="6191250"/>
          </a:xfrm>
          <a:prstGeom xmlns:a="http://schemas.openxmlformats.org/drawingml/2006/main" prst="rect">
            <a:avLst/>
          </a:prstGeom>
        </p:spPr>
      </p:pic>
      <p:sp>
        <p:nvSpPr>
          <p:cNvPr id="2" name="Chance">
            <a:extLst xmlns:a="http://schemas.openxmlformats.org/drawingml/2006/main">
              <a:ext uri="{FF2B5EF4-FFF2-40B4-BE49-F238E27FC236}">
                <a16:creationId xmlns:a16="http://schemas.microsoft.com/office/drawing/2014/main" id="{D64383B1-F6B1-4153-87CA-82AFCB35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9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109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Chance</a:t>
            </a:r>
          </a:p>
        </p:txBody>
      </p:sp>
      <p:sp>
        <p:nvSpPr>
          <p:cNvPr id="3" name="has a shape">
            <a:extLst xmlns:a="http://schemas.openxmlformats.org/drawingml/2006/main">
              <a:ext uri="{FF2B5EF4-FFF2-40B4-BE49-F238E27FC236}">
                <a16:creationId xmlns:a16="http://schemas.microsoft.com/office/drawing/2014/main" id="{70EE8576-4FC8-4E3A-BABF-A9F427F8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1095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78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has a shape</a:t>
            </a:r>
          </a:p>
        </p:txBody>
      </p:sp>
      <p:sp>
        <p:nvSpPr>
          <p:cNvPr id="4" name="More density.&#10;More encounters.">
            <a:extLst xmlns:a="http://schemas.openxmlformats.org/drawingml/2006/main">
              <a:ext uri="{FF2B5EF4-FFF2-40B4-BE49-F238E27FC236}">
                <a16:creationId xmlns:a16="http://schemas.microsoft.com/office/drawing/2014/main" id="{8D232A8E-BBA9-445D-8303-D4A38CB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0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More density.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300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More encounters.</a:t>
            </a:r>
          </a:p>
        </p:txBody>
      </p:sp>
      <p:sp>
        <p:nvSpPr>
          <p:cNvPr id="5" name="ORBITAL / Game interpretation">
            <a:extLst xmlns:a="http://schemas.openxmlformats.org/drawingml/2006/main">
              <a:ext uri="{FF2B5EF4-FFF2-40B4-BE49-F238E27FC236}">
                <a16:creationId xmlns:a16="http://schemas.microsoft.com/office/drawing/2014/main" id="{AEB68BC5-651E-49F0-A4F0-D6752158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defRPr>
            </a:pPr>
            <a:r>
              <a: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rPr>
              <a:t>ORBITAL / Game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3474773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7BE67-39E1-4478-A893-AFAB1A1B1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8927000584737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4572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80310-F24D-4BF9-A97B-C707C8F753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204bde7af4112"/>
          <a:srcRect xmlns:a="http://schemas.openxmlformats.org/drawingml/2006/main" l="21429" t="0" r="214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4572000"/>
          </a:xfrm>
          <a:prstGeom xmlns:a="http://schemas.openxmlformats.org/drawingml/2006/main" prst="rect">
            <a:avLst/>
          </a:prstGeom>
        </p:spPr>
      </p:pic>
      <p:sp>
        <p:nvSpPr>
          <p:cNvPr id="3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74A42A59-FE67-4BBA-81CB-F18BB53B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19600"/>
            <a:ext cx="12192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helter moves">
            <a:extLst xmlns:a="http://schemas.openxmlformats.org/drawingml/2006/main">
              <a:ext uri="{FF2B5EF4-FFF2-40B4-BE49-F238E27FC236}">
                <a16:creationId xmlns:a16="http://schemas.microsoft.com/office/drawing/2014/main" id="{8781764F-34AA-408F-9F78-C59A0BB2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112776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3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93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Shelter moves</a:t>
            </a:r>
          </a:p>
        </p:txBody>
      </p:sp>
      <p:sp>
        <p:nvSpPr>
          <p:cNvPr id="5" name="NASA / Conceptual animation">
            <a:extLst xmlns:a="http://schemas.openxmlformats.org/drawingml/2006/main">
              <a:ext uri="{FF2B5EF4-FFF2-40B4-BE49-F238E27FC236}">
                <a16:creationId xmlns:a16="http://schemas.microsoft.com/office/drawing/2014/main" id="{A681C350-BD98-4C7A-B6DF-7EBA805B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94942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494942"/>
                </a:solidFill>
                <a:latin typeface="Input Mono"/>
                <a:ea typeface="Input Mono"/>
                <a:cs typeface="Input Mono"/>
              </a:defRPr>
            </a:pPr>
            <a:r>
              <a:rPr sz="1575" b="0">
                <a:solidFill>
                  <a:srgbClr val="494942"/>
                </a:solidFill>
                <a:latin typeface="Input Mono"/>
                <a:ea typeface="Input Mono"/>
                <a:cs typeface="Input Mono"/>
              </a:rPr>
              <a:t>NASA / Conceptual animation</a:t>
            </a:r>
          </a:p>
        </p:txBody>
      </p:sp>
      <p:sp>
        <p:nvSpPr>
          <p:cNvPr id="6" name="DYNAMO / Game interpretation">
            <a:extLst xmlns:a="http://schemas.openxmlformats.org/drawingml/2006/main">
              <a:ext uri="{FF2B5EF4-FFF2-40B4-BE49-F238E27FC236}">
                <a16:creationId xmlns:a16="http://schemas.microsoft.com/office/drawing/2014/main" id="{6E52D2BF-0244-4884-A44B-88474CC2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94942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494942"/>
                </a:solidFill>
                <a:latin typeface="Input Mono"/>
                <a:ea typeface="Input Mono"/>
                <a:cs typeface="Input Mono"/>
              </a:defRPr>
            </a:pPr>
            <a:r>
              <a:rPr sz="1575" b="0">
                <a:solidFill>
                  <a:srgbClr val="494942"/>
                </a:solidFill>
                <a:latin typeface="Input Mono"/>
                <a:ea typeface="Input Mono"/>
                <a:cs typeface="Input Mono"/>
              </a:rPr>
              <a:t>DYNAMO / Game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76033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8EBA5-091D-471C-915D-83EDA99D21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ba2ddae4d4abc"/>
          <a:stretch xmlns:a="http://schemas.openxmlformats.org/drawingml/2006/main"/>
        </p:blipFill>
        <p:spPr>
          <a:xfrm xmlns:a="http://schemas.openxmlformats.org/drawingml/2006/main">
            <a:off x="4286250" y="464344"/>
            <a:ext cx="7905750" cy="5929313"/>
          </a:xfrm>
          <a:prstGeom xmlns:a="http://schemas.openxmlformats.org/drawingml/2006/main" prst="rect">
            <a:avLst/>
          </a:prstGeom>
        </p:spPr>
      </p:pic>
      <p:sp>
        <p:nvSpPr>
          <p:cNvPr id="2" name="The plane">
            <a:extLst xmlns:a="http://schemas.openxmlformats.org/drawingml/2006/main">
              <a:ext uri="{FF2B5EF4-FFF2-40B4-BE49-F238E27FC236}">
                <a16:creationId xmlns:a16="http://schemas.microsoft.com/office/drawing/2014/main" id="{7F13C0AD-BEE3-4422-A3FC-449CD70B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4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94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The plane</a:t>
            </a:r>
          </a:p>
        </p:txBody>
      </p:sp>
      <p:sp>
        <p:nvSpPr>
          <p:cNvPr id="3" name="folds">
            <a:extLst xmlns:a="http://schemas.openxmlformats.org/drawingml/2006/main">
              <a:ext uri="{FF2B5EF4-FFF2-40B4-BE49-F238E27FC236}">
                <a16:creationId xmlns:a16="http://schemas.microsoft.com/office/drawing/2014/main" id="{0F06B4AD-3D86-4D00-AB6F-A73117CD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4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9450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folds</a:t>
            </a:r>
          </a:p>
        </p:txBody>
      </p:sp>
      <p:sp>
        <p:nvSpPr>
          <p:cNvPr id="4" name="Same player.&#10;A different connection.">
            <a:extLst xmlns:a="http://schemas.openxmlformats.org/drawingml/2006/main">
              <a:ext uri="{FF2B5EF4-FFF2-40B4-BE49-F238E27FC236}">
                <a16:creationId xmlns:a16="http://schemas.microsoft.com/office/drawing/2014/main" id="{A109DFF8-201C-4448-BACC-6848AF02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334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7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7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Same player.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7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7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A different connection.</a:t>
            </a:r>
          </a:p>
        </p:txBody>
      </p:sp>
      <p:sp>
        <p:nvSpPr>
          <p:cNvPr id="5" name="SINGULARITY / Geometric interpretation">
            <a:extLst xmlns:a="http://schemas.openxmlformats.org/drawingml/2006/main">
              <a:ext uri="{FF2B5EF4-FFF2-40B4-BE49-F238E27FC236}">
                <a16:creationId xmlns:a16="http://schemas.microsoft.com/office/drawing/2014/main" id="{45C244B0-6F13-48C0-8CD2-EAFC71BE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defRPr>
            </a:pPr>
            <a:r>
              <a:rPr sz="1500" b="0">
                <a:solidFill>
                  <a:srgbClr val="A5A5A5"/>
                </a:solidFill>
                <a:latin typeface="Input Mono"/>
                <a:ea typeface="Input Mono"/>
                <a:cs typeface="Input Mono"/>
              </a:rPr>
              <a:t>SINGULARITY / Geometric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754755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D9960-678E-4054-90F4-67E3FEEA7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71962abd44e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EE46FFFE-0F37-47F2-A9CE-99E9ACAB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Worlds within worlds">
            <a:extLst xmlns:a="http://schemas.openxmlformats.org/drawingml/2006/main">
              <a:ext uri="{FF2B5EF4-FFF2-40B4-BE49-F238E27FC236}">
                <a16:creationId xmlns:a16="http://schemas.microsoft.com/office/drawing/2014/main" id="{A71DFDD6-B889-4176-967D-9E2526FB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277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9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9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697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Worlds within worlds</a:t>
            </a:r>
          </a:p>
        </p:txBody>
      </p:sp>
      <p:sp>
        <p:nvSpPr>
          <p:cNvPr id="4" name="layout background">
            <a:extLst xmlns:a="http://schemas.openxmlformats.org/drawingml/2006/main">
              <a:ext uri="{FF2B5EF4-FFF2-40B4-BE49-F238E27FC236}">
                <a16:creationId xmlns:a16="http://schemas.microsoft.com/office/drawing/2014/main" id="{4995112E-9018-4301-AF61-1744AD97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72075"/>
            <a:ext cx="12192000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5EE65-FBDB-44A5-A627-439FD1BE6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22b12258c4a58"/>
          <a:srcRect xmlns:a="http://schemas.openxmlformats.org/drawingml/2006/main" l="0" t="15459" r="0" b="15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5276850"/>
            <a:ext cx="4591050" cy="1362075"/>
          </a:xfrm>
          <a:prstGeom xmlns:a="http://schemas.openxmlformats.org/drawingml/2006/main" prst="rect">
            <a:avLst/>
          </a:prstGeom>
        </p:spPr>
      </p:pic>
      <p:sp>
        <p:nvSpPr>
          <p:cNvPr id="6" name="COSMOS / EMERGENCE">
            <a:extLst xmlns:a="http://schemas.openxmlformats.org/drawingml/2006/main">
              <a:ext uri="{FF2B5EF4-FFF2-40B4-BE49-F238E27FC236}">
                <a16:creationId xmlns:a16="http://schemas.microsoft.com/office/drawing/2014/main" id="{26A85278-7E88-4510-A817-6E4B6DAF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6381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62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2625" b="0">
                <a:solidFill>
                  <a:srgbClr val="FFFFFF"/>
                </a:solidFill>
                <a:latin typeface="NeuzeitSHeavy-Book"/>
                <a:ea typeface="NeuzeitSHeavy-Book"/>
                <a:cs typeface="NeuzeitSHeavy-Book"/>
              </a:rPr>
              <a:t>COSMOS / EMERGENCE</a:t>
            </a:r>
          </a:p>
        </p:txBody>
      </p:sp>
      <p:sp>
        <p:nvSpPr>
          <p:cNvPr id="7" name="Large structures. Local interactions.">
            <a:extLst xmlns:a="http://schemas.openxmlformats.org/drawingml/2006/main">
              <a:ext uri="{FF2B5EF4-FFF2-40B4-BE49-F238E27FC236}">
                <a16:creationId xmlns:a16="http://schemas.microsoft.com/office/drawing/2014/main" id="{5D7D4D56-812E-49F3-A1E6-261E6E9A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638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B7B7B7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B7B7B7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B7B7B7"/>
                </a:solidFill>
                <a:latin typeface="Input Mono"/>
                <a:ea typeface="Input Mono"/>
                <a:cs typeface="Input Mono"/>
              </a:rPr>
              <a:t>Large structures. Local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7999000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 small place">
            <a:extLst xmlns:a="http://schemas.openxmlformats.org/drawingml/2006/main">
              <a:ext uri="{FF2B5EF4-FFF2-40B4-BE49-F238E27FC236}">
                <a16:creationId xmlns:a16="http://schemas.microsoft.com/office/drawing/2014/main" id="{FA441533-64E6-4464-865F-50114F24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A small place</a:t>
            </a:r>
          </a:p>
        </p:txBody>
      </p:sp>
      <p:sp>
        <p:nvSpPr>
          <p:cNvPr id="2" name="in a larger">
            <a:extLst xmlns:a="http://schemas.openxmlformats.org/drawingml/2006/main">
              <a:ext uri="{FF2B5EF4-FFF2-40B4-BE49-F238E27FC236}">
                <a16:creationId xmlns:a16="http://schemas.microsoft.com/office/drawing/2014/main" id="{1CDE6AFA-EA7F-4A30-8354-7231FA82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in a larger</a:t>
            </a:r>
          </a:p>
        </p:txBody>
      </p:sp>
      <p:sp>
        <p:nvSpPr>
          <p:cNvPr id="3" name="world">
            <a:extLst xmlns:a="http://schemas.openxmlformats.org/drawingml/2006/main">
              <a:ext uri="{FF2B5EF4-FFF2-40B4-BE49-F238E27FC236}">
                <a16:creationId xmlns:a16="http://schemas.microsoft.com/office/drawing/2014/main" id="{E439A69C-A6E5-4C8B-9088-F44BE8D9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defRPr>
            </a:pPr>
            <a:r>
              <a:rPr sz="9900" b="0">
                <a:solidFill>
                  <a:srgbClr val="111111"/>
                </a:solidFill>
                <a:latin typeface="NeuzeitSHeavy-Book"/>
                <a:ea typeface="NeuzeitSHeavy-Book"/>
                <a:cs typeface="NeuzeitSHeavy-Book"/>
              </a:rPr>
              <a:t>world</a:t>
            </a:r>
          </a:p>
        </p:txBody>
      </p:sp>
      <p:sp>
        <p:nvSpPr>
          <p:cNvPr id="4" name="MASSIVE / MATT FRY">
            <a:extLst xmlns:a="http://schemas.openxmlformats.org/drawingml/2006/main">
              <a:ext uri="{FF2B5EF4-FFF2-40B4-BE49-F238E27FC236}">
                <a16:creationId xmlns:a16="http://schemas.microsoft.com/office/drawing/2014/main" id="{85254751-B2F2-4124-A894-20337CF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554E"/>
                </a:solidFill>
                <a:latin typeface="Input Mono"/>
                <a:ea typeface="Input Mono"/>
                <a:cs typeface="Input Mono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5554E"/>
                </a:solidFill>
                <a:latin typeface="Input Mono"/>
                <a:ea typeface="Input Mono"/>
                <a:cs typeface="Input Mono"/>
              </a:defRPr>
            </a:pPr>
            <a:r>
              <a:rPr sz="1650" b="0">
                <a:solidFill>
                  <a:srgbClr val="55554E"/>
                </a:solidFill>
                <a:latin typeface="Input Mono"/>
                <a:ea typeface="Input Mono"/>
                <a:cs typeface="Input Mono"/>
              </a:rPr>
              <a:t>MASSIVE / MATT FRY</a:t>
            </a:r>
          </a:p>
        </p:txBody>
      </p:sp>
    </p:spTree>
    <p:extLst>
      <p:ext uri="{BB962C8B-B14F-4D97-AF65-F5344CB8AC3E}">
        <p14:creationId xmlns:p14="http://schemas.microsoft.com/office/powerpoint/2010/main" val="1333112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2026-10-15T20:26:58.9780000Z</dcterms:created>
  <dcterms:modified xsi:type="dcterms:W3CDTF">2026-10-15T20:26:58.9780000Z</dcterms:modified>
</coreProperties>
</file>