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6f826f98e4798" /><Relationship Type="http://schemas.openxmlformats.org/officeDocument/2006/relationships/extended-properties" Target="/docProps/app.xml" Id="Rfc0d8be4a8dd42dc" /><Relationship Type="http://schemas.openxmlformats.org/officeDocument/2006/relationships/officeDocument" Target="/ppt/presentation.xml" Id="Re333fec87089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67876a15634196"/>
  </p:sldMasterIdLst>
  <p:notesMasterIdLst>
    <p:notesMasterId xmlns:r="http://schemas.openxmlformats.org/officeDocument/2006/relationships" r:id="R32b18320c47e4d55"/>
  </p:notesMasterIdLst>
  <p:sldIdLst>
    <p:sldId xmlns:r="http://schemas.openxmlformats.org/officeDocument/2006/relationships" id="256" r:id="R7dbb6f96e60a415e"/>
    <p:sldId xmlns:r="http://schemas.openxmlformats.org/officeDocument/2006/relationships" id="257" r:id="Rfdb1ad89f29148d5"/>
    <p:sldId xmlns:r="http://schemas.openxmlformats.org/officeDocument/2006/relationships" id="258" r:id="R983357ffe79a4a63"/>
    <p:sldId xmlns:r="http://schemas.openxmlformats.org/officeDocument/2006/relationships" id="259" r:id="R25f02357dd674199"/>
    <p:sldId xmlns:r="http://schemas.openxmlformats.org/officeDocument/2006/relationships" id="260" r:id="R6ca35b34dde6483e"/>
    <p:sldId xmlns:r="http://schemas.openxmlformats.org/officeDocument/2006/relationships" id="261" r:id="R683da27b127d43f5"/>
    <p:sldId xmlns:r="http://schemas.openxmlformats.org/officeDocument/2006/relationships" id="262" r:id="Rbb16581280434bbf"/>
    <p:sldId xmlns:r="http://schemas.openxmlformats.org/officeDocument/2006/relationships" id="263" r:id="R5b31ab04139b47ad"/>
    <p:sldId xmlns:r="http://schemas.openxmlformats.org/officeDocument/2006/relationships" id="264" r:id="Ra1c4b72515e44c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0ca4220074ad5" /><Relationship Type="http://schemas.openxmlformats.org/officeDocument/2006/relationships/slideMaster" Target="/ppt/slideMasters/slideMaster1.xml" Id="R9367876a15634196" /><Relationship Type="http://schemas.openxmlformats.org/officeDocument/2006/relationships/notesMaster" Target="/ppt/notesMasters/notesMaster1.xml" Id="R32b18320c47e4d55" /><Relationship Type="http://schemas.openxmlformats.org/officeDocument/2006/relationships/presProps" Target="/ppt/presProps.xml" Id="R8637a227f31d4937" /><Relationship Type="http://schemas.openxmlformats.org/officeDocument/2006/relationships/tableStyles" Target="/ppt/tableStyles.xml" Id="Ra15e71fc3db74484" /><Relationship Type="http://schemas.openxmlformats.org/officeDocument/2006/relationships/slide" Target="/ppt/slides/slide1.xml" Id="R7dbb6f96e60a415e" /><Relationship Type="http://schemas.openxmlformats.org/officeDocument/2006/relationships/slide" Target="/ppt/slides/slide2.xml" Id="Rfdb1ad89f29148d5" /><Relationship Type="http://schemas.openxmlformats.org/officeDocument/2006/relationships/slide" Target="/ppt/slides/slide3.xml" Id="R983357ffe79a4a63" /><Relationship Type="http://schemas.openxmlformats.org/officeDocument/2006/relationships/slide" Target="/ppt/slides/slide4.xml" Id="R25f02357dd674199" /><Relationship Type="http://schemas.openxmlformats.org/officeDocument/2006/relationships/slide" Target="/ppt/slides/slide5.xml" Id="R6ca35b34dde6483e" /><Relationship Type="http://schemas.openxmlformats.org/officeDocument/2006/relationships/slide" Target="/ppt/slides/slide6.xml" Id="R683da27b127d43f5" /><Relationship Type="http://schemas.openxmlformats.org/officeDocument/2006/relationships/slide" Target="/ppt/slides/slide7.xml" Id="Rbb16581280434bbf" /><Relationship Type="http://schemas.openxmlformats.org/officeDocument/2006/relationships/slide" Target="/ppt/slides/slide8.xml" Id="R5b31ab04139b47ad" /><Relationship Type="http://schemas.openxmlformats.org/officeDocument/2006/relationships/slide" Target="/ppt/slides/slide9.xml" Id="Ra1c4b72515e4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491485652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f8ce272cfc4613" /><Relationship Type="http://schemas.openxmlformats.org/officeDocument/2006/relationships/notesMaster" Target="/ppt/notesMasters/notesMaster1.xml" Id="R8e1c8c8bef6a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945470f2f458e" /><Relationship Type="http://schemas.openxmlformats.org/officeDocument/2006/relationships/notesMaster" Target="/ppt/notesMasters/notesMaster1.xml" Id="R3aa3bbb0a5cb47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57c66bade84614" /><Relationship Type="http://schemas.openxmlformats.org/officeDocument/2006/relationships/notesMaster" Target="/ppt/notesMasters/notesMaster1.xml" Id="R25588445e093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573ff6face4631" /><Relationship Type="http://schemas.openxmlformats.org/officeDocument/2006/relationships/notesMaster" Target="/ppt/notesMasters/notesMaster1.xml" Id="R0ffa09840ac4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088cc465924595" /><Relationship Type="http://schemas.openxmlformats.org/officeDocument/2006/relationships/notesMaster" Target="/ppt/notesMasters/notesMaster1.xml" Id="R82279c04926a4a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6ff514d4d442d" /><Relationship Type="http://schemas.openxmlformats.org/officeDocument/2006/relationships/notesMaster" Target="/ppt/notesMasters/notesMaster1.xml" Id="Rf82ab636171c4b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6c2f5b9bd94d6b" /><Relationship Type="http://schemas.openxmlformats.org/officeDocument/2006/relationships/notesMaster" Target="/ppt/notesMasters/notesMaster1.xml" Id="R3c900ed4ef784c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08f79c908a4c96" /><Relationship Type="http://schemas.openxmlformats.org/officeDocument/2006/relationships/notesMaster" Target="/ppt/notesMasters/notesMaster1.xml" Id="R252ee8ea1edd42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0503a929614f8b" /><Relationship Type="http://schemas.openxmlformats.org/officeDocument/2006/relationships/notesMaster" Target="/ppt/notesMasters/notesMaster1.xml" Id="Re0b00be4321e49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Powers of Ten still © Eames Office, https://www.eamesoffice.com/the-work/powers-of-ten/. COSMOS and Flatland are influences named by Matt; personal story and signed-book photograph remain editorial inputs, not depicted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Ordinary gameplay uses a shared XZ plane. The flat-player premise is artistic and functional; colliders and effects have volume. Prior LATTICE capture, 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Experiment photograph: Harvard Natural Sciences Lecture Demonstrations, https://sciencedemonstrations.fas.harvard.edu/presentations/big-chladni-plate. Sand collects at nodal lines on a vibrating plate. MASSIVE's Resonance uses authored Chladni-inspired curves; it is not a sand or plate 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Orbital-inspired game distributions share a density function with encounter probability. Shape basis: https://ocw.mit.edu/courses/18-755-lie-groups-and-lie-algebras-ii-spring-2024/mit18_755_s24_lec12.pdf. Not calibrated atomic wavefunctions; an impact ellipse is feedback, not an electron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NASA conceptual animation: NASA Goddard/CIL/Wes Buchanan, Krystofer Kim, https://svs.gsfc.nasa.gov/14892. The active DYNAMO level uses an authored organic field and storm envelope. SWMF/BATS-R-US snapshots remain a separate reference prototype and do not currently drive gameplay storms.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SINGULARITY connects a continuous folded surface. Portal travel is an authored nonlethal passage; it does not model a traversable astrophysical black hole. Use a full uninterrupted traversal before showing the held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COSMOS is an art-directed evolving cosmic web, not a predictive cosmological solver. EMERGENCE combines local attraction/repulsion with authored organism recognition and metabolism; it does not reconstruct the origin of life. Both shown in new 15 October captures.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Sparse closing screen; return to the player and use Matt’s own closing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29a54db7d4f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8529b06af4c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841330a0d41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5e9219af34a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51064118f4d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749755a704b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490256-2FD7-44A1-AA19-76B25D24F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D36F84-B56A-4881-AE25-E77CE17169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B95E41-750F-49BC-9CD8-D18A7E0D6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178BE-C105-43A6-8443-37A628151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E974B4-AABB-4071-9540-FCD2ED27C2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1D2657-3A00-4763-9D28-D52F9B03A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42E676-CD1E-46C3-B67C-A0C3098F60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8C0FF8-9E7C-4D4D-8042-C5731BEB18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4CE907-DB59-4E5A-A5D5-2EADCF3F46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065BDE-7EA0-4A2E-8BB2-6FB4F7107D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1bf507da04f31" /><Relationship Type="http://schemas.openxmlformats.org/officeDocument/2006/relationships/slideLayout" Target="/ppt/slideLayouts/slideLayout1.xml" Id="Rdcdbc0d4db4f4b0b" /><Relationship Type="http://schemas.openxmlformats.org/officeDocument/2006/relationships/slideLayout" Target="/ppt/slideLayouts/slideLayout2.xml" Id="R34d42017ac084219" /><Relationship Type="http://schemas.openxmlformats.org/officeDocument/2006/relationships/slideLayout" Target="/ppt/slideLayouts/slideLayout3.xml" Id="R85643a7b44184592" /><Relationship Type="http://schemas.openxmlformats.org/officeDocument/2006/relationships/slideLayout" Target="/ppt/slideLayouts/slideLayout4.xml" Id="Reca742b0ac714a23" /><Relationship Type="http://schemas.openxmlformats.org/officeDocument/2006/relationships/slideLayout" Target="/ppt/slideLayouts/slideLayout5.xml" Id="R0dad04b0845c44aa" /><Relationship Type="http://schemas.openxmlformats.org/officeDocument/2006/relationships/slideLayout" Target="/ppt/slideLayouts/slideLayout6.xml" Id="R43b608def21b42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bc0d4db4f4b0b"/>
    <p:sldLayoutId xmlns:r="http://schemas.openxmlformats.org/officeDocument/2006/relationships" id="2147483650" r:id="R34d42017ac084219"/>
    <p:sldLayoutId xmlns:r="http://schemas.openxmlformats.org/officeDocument/2006/relationships" id="2147483651" r:id="R85643a7b44184592"/>
    <p:sldLayoutId xmlns:r="http://schemas.openxmlformats.org/officeDocument/2006/relationships" id="2147483652" r:id="Reca742b0ac714a23"/>
    <p:sldLayoutId xmlns:r="http://schemas.openxmlformats.org/officeDocument/2006/relationships" id="2147483653" r:id="R0dad04b0845c44aa"/>
    <p:sldLayoutId xmlns:r="http://schemas.openxmlformats.org/officeDocument/2006/relationships" id="2147483654" r:id="R43b608def21b42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19ccf1e244168" /><Relationship Type="http://schemas.openxmlformats.org/officeDocument/2006/relationships/image" Target="/ppt/media/image.jpeg" Id="R6534fc30070f4bcd" /><Relationship Type="http://schemas.openxmlformats.org/officeDocument/2006/relationships/notesSlide" Target="/ppt/notesSlides/notesSlide1.xml" Id="R801ea62dc75f4a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352bfc8344f1a" /><Relationship Type="http://schemas.openxmlformats.org/officeDocument/2006/relationships/image" Target="/ppt/media/image2.jpeg" Id="Rc2f6c08335984f54" /><Relationship Type="http://schemas.openxmlformats.org/officeDocument/2006/relationships/notesSlide" Target="/ppt/notesSlides/notesSlide2.xml" Id="R4491a5a5eb6d47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82e9de94f4d3a" /><Relationship Type="http://schemas.openxmlformats.org/officeDocument/2006/relationships/image" Target="/ppt/media/image.png" Id="Rfcb3b8fbbb3b40ff" /><Relationship Type="http://schemas.openxmlformats.org/officeDocument/2006/relationships/notesSlide" Target="/ppt/notesSlides/notesSlide3.xml" Id="Rd92169c80bd1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1f2feddd34ecc" /><Relationship Type="http://schemas.openxmlformats.org/officeDocument/2006/relationships/image" Target="/ppt/media/image3.jpeg" Id="R8a99ec8ff91e43a9" /><Relationship Type="http://schemas.openxmlformats.org/officeDocument/2006/relationships/image" Target="/ppt/media/image4.jpeg" Id="Rb5639282307d49d4" /><Relationship Type="http://schemas.openxmlformats.org/officeDocument/2006/relationships/notesSlide" Target="/ppt/notesSlides/notesSlide4.xml" Id="R2d385247c3c742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6cd9e227b4f0f" /><Relationship Type="http://schemas.openxmlformats.org/officeDocument/2006/relationships/image" Target="/ppt/media/image2.png" Id="Rf3abba35a8a8457d" /><Relationship Type="http://schemas.openxmlformats.org/officeDocument/2006/relationships/notesSlide" Target="/ppt/notesSlides/notesSlide5.xml" Id="Rfd1cb9688e3441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e7c7a86974749" /><Relationship Type="http://schemas.openxmlformats.org/officeDocument/2006/relationships/image" Target="/ppt/media/image5.jpeg" Id="Rd114635048bf4060" /><Relationship Type="http://schemas.openxmlformats.org/officeDocument/2006/relationships/image" Target="/ppt/media/image3.png" Id="R41ad690a3da44744" /><Relationship Type="http://schemas.openxmlformats.org/officeDocument/2006/relationships/notesSlide" Target="/ppt/notesSlides/notesSlide6.xml" Id="Rceedee6c3160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2a1858a9f4c0d" /><Relationship Type="http://schemas.openxmlformats.org/officeDocument/2006/relationships/image" Target="/ppt/media/image4.png" Id="R000d3aa4091c49eb" /><Relationship Type="http://schemas.openxmlformats.org/officeDocument/2006/relationships/notesSlide" Target="/ppt/notesSlides/notesSlide7.xml" Id="Rb325697ed4c544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974ce814b4ac0" /><Relationship Type="http://schemas.openxmlformats.org/officeDocument/2006/relationships/image" Target="/ppt/media/image5.png" Id="R3b64254654004a4f" /><Relationship Type="http://schemas.openxmlformats.org/officeDocument/2006/relationships/image" Target="/ppt/media/image6.png" Id="Rf278a221278e46c3" /><Relationship Type="http://schemas.openxmlformats.org/officeDocument/2006/relationships/notesSlide" Target="/ppt/notesSlides/notesSlide8.xml" Id="Ra5cdd54c41f9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8223682654fb1" /><Relationship Type="http://schemas.openxmlformats.org/officeDocument/2006/relationships/notesSlide" Target="/ppt/notesSlides/notesSlide9.xml" Id="R7ba767713a89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E4918-ADC4-4234-9AD3-CC0DE658B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4fc30070f4bcd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24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2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D309D09C-545E-493D-9247-341F5BE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SSIVE">
            <a:extLst xmlns:a="http://schemas.openxmlformats.org/drawingml/2006/main">
              <a:ext uri="{FF2B5EF4-FFF2-40B4-BE49-F238E27FC236}">
                <a16:creationId xmlns:a16="http://schemas.microsoft.com/office/drawing/2014/main" id="{7DF829EE-C123-4BEC-B70B-0E8DBC84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1275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MASSIVE</a:t>
            </a:r>
          </a:p>
        </p:txBody>
      </p:sp>
      <p:sp>
        <p:nvSpPr>
          <p:cNvPr id="4" name="Science as a&#10;material for play">
            <a:extLst xmlns:a="http://schemas.openxmlformats.org/drawingml/2006/main">
              <a:ext uri="{FF2B5EF4-FFF2-40B4-BE49-F238E27FC236}">
                <a16:creationId xmlns:a16="http://schemas.microsoft.com/office/drawing/2014/main" id="{E38E75F3-E861-4959-90A0-03DD6C7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330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Science as 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330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material for play</a:t>
            </a:r>
          </a:p>
        </p:txBody>
      </p:sp>
      <p:sp>
        <p:nvSpPr>
          <p:cNvPr id="5" name="MATT FRY">
            <a:extLst xmlns:a="http://schemas.openxmlformats.org/drawingml/2006/main">
              <a:ext uri="{FF2B5EF4-FFF2-40B4-BE49-F238E27FC236}">
                <a16:creationId xmlns:a16="http://schemas.microsoft.com/office/drawing/2014/main" id="{1C692127-4205-4794-8D76-CBBC03CB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MATT FRY</a:t>
            </a:r>
          </a:p>
        </p:txBody>
      </p:sp>
      <p:sp>
        <p:nvSpPr>
          <p:cNvPr id="6" name="Museum of the Moving Image&#10;17 October 20">
            <a:extLst xmlns:a="http://schemas.openxmlformats.org/drawingml/2006/main">
              <a:ext uri="{FF2B5EF4-FFF2-40B4-BE49-F238E27FC236}">
                <a16:creationId xmlns:a16="http://schemas.microsoft.com/office/drawing/2014/main" id="{FABD2C85-3171-4D1A-B3A9-835D79F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1B1B1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1B1B1"/>
                </a:solidFill>
                <a:latin typeface="Input Mono"/>
                <a:ea typeface="Input Mono"/>
                <a:cs typeface="Input Mono"/>
              </a:defRPr>
            </a:pPr>
            <a:r>
              <a:rPr sz="1500" b="0">
                <a:solidFill>
                  <a:srgbClr val="B1B1B1"/>
                </a:solidFill>
                <a:latin typeface="Input Mono"/>
                <a:ea typeface="Input Mono"/>
                <a:cs typeface="Input Mono"/>
              </a:rPr>
              <a:t>Museum of the Moving Image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1B1B1"/>
                </a:solidFill>
                <a:latin typeface="Input Mono"/>
                <a:ea typeface="Input Mono"/>
                <a:cs typeface="Input Mono"/>
              </a:defRPr>
            </a:pPr>
            <a:r>
              <a:rPr sz="1500" b="0">
                <a:solidFill>
                  <a:srgbClr val="B1B1B1"/>
                </a:solidFill>
                <a:latin typeface="Input Mono"/>
                <a:ea typeface="Input Mono"/>
                <a:cs typeface="Input Mono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612884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WAYS OF SEEING">
            <a:extLst xmlns:a="http://schemas.openxmlformats.org/drawingml/2006/main">
              <a:ext uri="{FF2B5EF4-FFF2-40B4-BE49-F238E27FC236}">
                <a16:creationId xmlns:a16="http://schemas.microsoft.com/office/drawing/2014/main" id="{31F45538-035C-460A-BAA9-B5FB173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465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WAYS OF SEEING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5AFE6-476C-4018-B836-72B2F6D63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6c08335984f54"/>
          <a:stretch xmlns:a="http://schemas.openxmlformats.org/drawingml/2006/main"/>
        </p:blipFill>
        <p:spPr>
          <a:xfrm xmlns:a="http://schemas.openxmlformats.org/drawingml/2006/main">
            <a:off x="6191250" y="1730127"/>
            <a:ext cx="5334000" cy="3969246"/>
          </a:xfrm>
          <a:prstGeom xmlns:a="http://schemas.openxmlformats.org/drawingml/2006/main" prst="rect">
            <a:avLst/>
          </a:prstGeom>
        </p:spPr>
      </p:pic>
      <p:sp>
        <p:nvSpPr>
          <p:cNvPr id="3" name="COSMOS">
            <a:extLst xmlns:a="http://schemas.openxmlformats.org/drawingml/2006/main">
              <a:ext uri="{FF2B5EF4-FFF2-40B4-BE49-F238E27FC236}">
                <a16:creationId xmlns:a16="http://schemas.microsoft.com/office/drawing/2014/main" id="{9D538CC1-7559-4838-BDAA-AAFEA132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COSMOS</a:t>
            </a:r>
          </a:p>
        </p:txBody>
      </p:sp>
      <p:sp>
        <p:nvSpPr>
          <p:cNvPr id="4" name="Carl Sagan">
            <a:extLst xmlns:a="http://schemas.openxmlformats.org/drawingml/2006/main">
              <a:ext uri="{FF2B5EF4-FFF2-40B4-BE49-F238E27FC236}">
                <a16:creationId xmlns:a16="http://schemas.microsoft.com/office/drawing/2014/main" id="{5D458EE1-02C3-45F1-8771-9041876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defRPr>
            </a:pPr>
            <a:r>
              <a: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rPr>
              <a:t>Carl Sagan</a:t>
            </a:r>
          </a:p>
        </p:txBody>
      </p:sp>
      <p:sp>
        <p:nvSpPr>
          <p:cNvPr id="5" name="FLATLAND">
            <a:extLst xmlns:a="http://schemas.openxmlformats.org/drawingml/2006/main">
              <a:ext uri="{FF2B5EF4-FFF2-40B4-BE49-F238E27FC236}">
                <a16:creationId xmlns:a16="http://schemas.microsoft.com/office/drawing/2014/main" id="{39C2B25A-391E-4201-AAEE-A16EDE01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FLATLAND</a:t>
            </a:r>
          </a:p>
        </p:txBody>
      </p:sp>
      <p:sp>
        <p:nvSpPr>
          <p:cNvPr id="6" name="Edwin A. Abbott">
            <a:extLst xmlns:a="http://schemas.openxmlformats.org/drawingml/2006/main">
              <a:ext uri="{FF2B5EF4-FFF2-40B4-BE49-F238E27FC236}">
                <a16:creationId xmlns:a16="http://schemas.microsoft.com/office/drawing/2014/main" id="{BBCCC9AF-85F1-4406-9211-C181002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defRPr>
            </a:pPr>
            <a:r>
              <a: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rPr>
              <a:t>Edwin A. Abbott</a:t>
            </a:r>
          </a:p>
        </p:txBody>
      </p:sp>
      <p:sp>
        <p:nvSpPr>
          <p:cNvPr id="7" name="POWERS OF TEN">
            <a:extLst xmlns:a="http://schemas.openxmlformats.org/drawingml/2006/main">
              <a:ext uri="{FF2B5EF4-FFF2-40B4-BE49-F238E27FC236}">
                <a16:creationId xmlns:a16="http://schemas.microsoft.com/office/drawing/2014/main" id="{FB25462A-6E18-4497-B04A-3465955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33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POWERS OF TEN</a:t>
            </a:r>
          </a:p>
        </p:txBody>
      </p:sp>
      <p:sp>
        <p:nvSpPr>
          <p:cNvPr id="8" name="Charles &amp; Ray Eames">
            <a:extLst xmlns:a="http://schemas.openxmlformats.org/drawingml/2006/main">
              <a:ext uri="{FF2B5EF4-FFF2-40B4-BE49-F238E27FC236}">
                <a16:creationId xmlns:a16="http://schemas.microsoft.com/office/drawing/2014/main" id="{1D6B6736-A93D-469B-842E-A1C2D54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defRPr>
            </a:pPr>
            <a:r>
              <a:rPr sz="1875" b="0">
                <a:solidFill>
                  <a:srgbClr val="B8B8B8"/>
                </a:solidFill>
                <a:latin typeface="Input Mono"/>
                <a:ea typeface="Input Mono"/>
                <a:cs typeface="Input Mono"/>
              </a:rPr>
              <a:t>Charles &amp; Ray Eames</a:t>
            </a:r>
          </a:p>
        </p:txBody>
      </p:sp>
      <p:sp>
        <p:nvSpPr>
          <p:cNvPr id="9" name="02 / WONDER / VIEWPOINT / SCALE">
            <a:extLst xmlns:a="http://schemas.openxmlformats.org/drawingml/2006/main">
              <a:ext uri="{FF2B5EF4-FFF2-40B4-BE49-F238E27FC236}">
                <a16:creationId xmlns:a16="http://schemas.microsoft.com/office/drawing/2014/main" id="{F4E82F2A-6C61-4416-A28A-E9CAAF8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02 / WONDER / VIEWPOINT / SCALE</a:t>
            </a:r>
          </a:p>
        </p:txBody>
      </p:sp>
    </p:spTree>
    <p:extLst>
      <p:ext uri="{BB962C8B-B14F-4D97-AF65-F5344CB8AC3E}">
        <p14:creationId xmlns:p14="http://schemas.microsoft.com/office/powerpoint/2010/main" val="943337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NE PLANE OF EXPERIENCE">
            <a:extLst xmlns:a="http://schemas.openxmlformats.org/drawingml/2006/main">
              <a:ext uri="{FF2B5EF4-FFF2-40B4-BE49-F238E27FC236}">
                <a16:creationId xmlns:a16="http://schemas.microsoft.com/office/drawing/2014/main" id="{83E2AD21-02CB-4E53-88F1-708C7E62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42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ONE PLANE OF EXPERIENCE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07B02-704F-441E-B0E5-AC508BCF0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3b8fbbb3b40ff"/>
          <a:stretch xmlns:a="http://schemas.openxmlformats.org/drawingml/2006/main"/>
        </p:blipFill>
        <p:spPr>
          <a:xfrm xmlns:a="http://schemas.openxmlformats.org/drawingml/2006/main">
            <a:off x="2769658" y="1409700"/>
            <a:ext cx="8043333" cy="4524375"/>
          </a:xfrm>
          <a:prstGeom xmlns:a="http://schemas.openxmlformats.org/drawingml/2006/main" prst="rect">
            <a:avLst/>
          </a:prstGeom>
        </p:spPr>
      </p:pic>
      <p:sp>
        <p:nvSpPr>
          <p:cNvPr id="3" name="MOVE&#10;ATTACK&#10;DEFEND">
            <a:extLst xmlns:a="http://schemas.openxmlformats.org/drawingml/2006/main">
              <a:ext uri="{FF2B5EF4-FFF2-40B4-BE49-F238E27FC236}">
                <a16:creationId xmlns:a16="http://schemas.microsoft.com/office/drawing/2014/main" id="{30426484-BE2A-48C7-BE26-CD2C6C78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MOVE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ATTACK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DEFEND</a:t>
            </a:r>
          </a:p>
        </p:txBody>
      </p:sp>
      <p:sp>
        <p:nvSpPr>
          <p:cNvPr id="4" name="A shared surface&#10;for local play">
            <a:extLst xmlns:a="http://schemas.openxmlformats.org/drawingml/2006/main">
              <a:ext uri="{FF2B5EF4-FFF2-40B4-BE49-F238E27FC236}">
                <a16:creationId xmlns:a16="http://schemas.microsoft.com/office/drawing/2014/main" id="{2F94E0B6-3D19-4C1F-B9AE-87B6C60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EBEB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EBEBE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BEBEBE"/>
                </a:solidFill>
                <a:latin typeface="Input Mono"/>
                <a:ea typeface="Input Mono"/>
                <a:cs typeface="Input Mono"/>
              </a:rPr>
              <a:t>A shared surface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EBEBE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BEBEBE"/>
                </a:solidFill>
                <a:latin typeface="Input Mono"/>
                <a:ea typeface="Input Mono"/>
                <a:cs typeface="Input Mono"/>
              </a:rPr>
              <a:t>for local play</a:t>
            </a:r>
          </a:p>
        </p:txBody>
      </p:sp>
      <p:sp>
        <p:nvSpPr>
          <p:cNvPr id="5" name="03 / PLAYER / FIELD / CONTACT">
            <a:extLst xmlns:a="http://schemas.openxmlformats.org/drawingml/2006/main">
              <a:ext uri="{FF2B5EF4-FFF2-40B4-BE49-F238E27FC236}">
                <a16:creationId xmlns:a16="http://schemas.microsoft.com/office/drawing/2014/main" id="{EFA252C1-57AD-4972-9BD9-6A638FB5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03 / PLAYER / FIELD / CONTACT</a:t>
            </a:r>
          </a:p>
        </p:txBody>
      </p:sp>
    </p:spTree>
    <p:extLst>
      <p:ext uri="{BB962C8B-B14F-4D97-AF65-F5344CB8AC3E}">
        <p14:creationId xmlns:p14="http://schemas.microsoft.com/office/powerpoint/2010/main" val="1230063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 PATTERN BECOMES A PLACE">
            <a:extLst xmlns:a="http://schemas.openxmlformats.org/drawingml/2006/main">
              <a:ext uri="{FF2B5EF4-FFF2-40B4-BE49-F238E27FC236}">
                <a16:creationId xmlns:a16="http://schemas.microsoft.com/office/drawing/2014/main" id="{58899C19-4C66-4C5F-857E-D2EF3431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405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A PATTERN BECOMES A PLACE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CF819-2637-47D4-AEF8-601229A80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9ec8ff91e43a9"/>
          <a:stretch xmlns:a="http://schemas.openxmlformats.org/drawingml/2006/main"/>
        </p:blipFill>
        <p:spPr>
          <a:xfrm xmlns:a="http://schemas.openxmlformats.org/drawingml/2006/main">
            <a:off x="957221" y="1809750"/>
            <a:ext cx="4448259" cy="3333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07B8F-90A0-48A6-9209-FB55BA35E2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39282307d49d4"/>
          <a:stretch xmlns:a="http://schemas.openxmlformats.org/drawingml/2006/main"/>
        </p:blipFill>
        <p:spPr>
          <a:xfrm xmlns:a="http://schemas.openxmlformats.org/drawingml/2006/main">
            <a:off x="6210300" y="1965722"/>
            <a:ext cx="5372100" cy="3021806"/>
          </a:xfrm>
          <a:prstGeom xmlns:a="http://schemas.openxmlformats.org/drawingml/2006/main" prst="rect">
            <a:avLst/>
          </a:prstGeom>
        </p:spPr>
      </p:pic>
      <p:sp>
        <p:nvSpPr>
          <p:cNvPr id="4" name="EXPERIMENT">
            <a:extLst xmlns:a="http://schemas.openxmlformats.org/drawingml/2006/main">
              <a:ext uri="{FF2B5EF4-FFF2-40B4-BE49-F238E27FC236}">
                <a16:creationId xmlns:a16="http://schemas.microsoft.com/office/drawing/2014/main" id="{EE327F6F-113A-42DF-AD1A-83CB5B4E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9B9B9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9B9B9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B9B9B9"/>
                </a:solidFill>
                <a:latin typeface="Input Mono"/>
                <a:ea typeface="Input Mono"/>
                <a:cs typeface="Input Mono"/>
              </a:rPr>
              <a:t>EXPERIMENT</a:t>
            </a:r>
          </a:p>
        </p:txBody>
      </p:sp>
      <p:sp>
        <p:nvSpPr>
          <p:cNvPr id="5" name="GAME INTERPRETATION">
            <a:extLst xmlns:a="http://schemas.openxmlformats.org/drawingml/2006/main">
              <a:ext uri="{FF2B5EF4-FFF2-40B4-BE49-F238E27FC236}">
                <a16:creationId xmlns:a16="http://schemas.microsoft.com/office/drawing/2014/main" id="{58AFBB6E-3997-43DF-AB1A-713B7947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29250"/>
            <a:ext cx="537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9B9B9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9B9B9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B9B9B9"/>
                </a:solidFill>
                <a:latin typeface="Input Mono"/>
                <a:ea typeface="Input Mono"/>
                <a:cs typeface="Input Mono"/>
              </a:rPr>
              <a:t>GAME INTERPRETATION</a:t>
            </a:r>
          </a:p>
        </p:txBody>
      </p:sp>
      <p:sp>
        <p:nvSpPr>
          <p:cNvPr id="6" name="04 / RESONANCE">
            <a:extLst xmlns:a="http://schemas.openxmlformats.org/drawingml/2006/main">
              <a:ext uri="{FF2B5EF4-FFF2-40B4-BE49-F238E27FC236}">
                <a16:creationId xmlns:a16="http://schemas.microsoft.com/office/drawing/2014/main" id="{849941FC-B15C-4EF8-9C41-2AB7DA2A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04 / RESONANCE</a:t>
            </a:r>
          </a:p>
        </p:txBody>
      </p:sp>
    </p:spTree>
    <p:extLst>
      <p:ext uri="{BB962C8B-B14F-4D97-AF65-F5344CB8AC3E}">
        <p14:creationId xmlns:p14="http://schemas.microsoft.com/office/powerpoint/2010/main" val="56627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RBITAL">
            <a:extLst xmlns:a="http://schemas.openxmlformats.org/drawingml/2006/main">
              <a:ext uri="{FF2B5EF4-FFF2-40B4-BE49-F238E27FC236}">
                <a16:creationId xmlns:a16="http://schemas.microsoft.com/office/drawing/2014/main" id="{5BE52B64-DF2C-48BB-A02A-E4D9E584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3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63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ORBITAL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1C548-98D3-4FE8-B755-DFFE08BC7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bba35a8a8457d"/>
          <a:srcRect xmlns:a="http://schemas.openxmlformats.org/drawingml/2006/main" l="0" t="15382" r="0" b="15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381750" cy="4048125"/>
          </a:xfrm>
          <a:prstGeom xmlns:a="http://schemas.openxmlformats.org/drawingml/2006/main" prst="rect">
            <a:avLst/>
          </a:prstGeom>
        </p:spPr>
      </p:pic>
      <p:sp>
        <p:nvSpPr>
          <p:cNvPr id="3" name="MORE DENSITY.&#10;MORE ENCOUNTERS.">
            <a:extLst xmlns:a="http://schemas.openxmlformats.org/drawingml/2006/main">
              <a:ext uri="{FF2B5EF4-FFF2-40B4-BE49-F238E27FC236}">
                <a16:creationId xmlns:a16="http://schemas.microsoft.com/office/drawing/2014/main" id="{2680D742-E8EA-41B8-A69D-5166EB26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2CF79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2CF79"/>
                </a:solidFill>
                <a:latin typeface="Input Mono"/>
                <a:ea typeface="Input Mono"/>
                <a:cs typeface="Input Mono"/>
              </a:defRPr>
            </a:pPr>
            <a:r>
              <a:rPr sz="3150" b="1">
                <a:solidFill>
                  <a:srgbClr val="F2CF79"/>
                </a:solidFill>
                <a:latin typeface="Input Mono"/>
                <a:ea typeface="Input Mono"/>
                <a:cs typeface="Input Mono"/>
              </a:rPr>
              <a:t>MORE DENSITY.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2CF79"/>
                </a:solidFill>
                <a:latin typeface="Input Mono"/>
                <a:ea typeface="Input Mono"/>
                <a:cs typeface="Input Mono"/>
              </a:defRPr>
            </a:pPr>
            <a:r>
              <a:rPr sz="3150" b="1">
                <a:solidFill>
                  <a:srgbClr val="F2CF79"/>
                </a:solidFill>
                <a:latin typeface="Input Mono"/>
                <a:ea typeface="Input Mono"/>
                <a:cs typeface="Input Mono"/>
              </a:rPr>
              <a:t>MORE ENCOUNTERS.</a:t>
            </a:r>
          </a:p>
        </p:txBody>
      </p:sp>
      <p:sp>
        <p:nvSpPr>
          <p:cNvPr id="4" name="A visible distribution&#10;changes the chanc">
            <a:extLst xmlns:a="http://schemas.openxmlformats.org/drawingml/2006/main">
              <a:ext uri="{FF2B5EF4-FFF2-40B4-BE49-F238E27FC236}">
                <a16:creationId xmlns:a16="http://schemas.microsoft.com/office/drawing/2014/main" id="{E23C14A1-1A8C-4BBE-961A-944D3DE4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A visible distribution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changes the chance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19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of a strike.</a:t>
            </a:r>
          </a:p>
        </p:txBody>
      </p:sp>
      <p:sp>
        <p:nvSpPr>
          <p:cNvPr id="5" name="05 / PROBABILITY / GAME INTERPRETATION">
            <a:extLst xmlns:a="http://schemas.openxmlformats.org/drawingml/2006/main">
              <a:ext uri="{FF2B5EF4-FFF2-40B4-BE49-F238E27FC236}">
                <a16:creationId xmlns:a16="http://schemas.microsoft.com/office/drawing/2014/main" id="{0DB4D765-4C08-4609-9489-14362BF4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05 / PROBABILITY / GAME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261100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SAFE PLACE MOVES">
            <a:extLst xmlns:a="http://schemas.openxmlformats.org/drawingml/2006/main">
              <a:ext uri="{FF2B5EF4-FFF2-40B4-BE49-F238E27FC236}">
                <a16:creationId xmlns:a16="http://schemas.microsoft.com/office/drawing/2014/main" id="{66F9C5D8-F3B8-48F6-BAE8-6B0EEEB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45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THE SAFE PLACE MOVES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F7808-A612-48D1-97DA-43132DEB6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4635048bf4060"/>
          <a:stretch xmlns:a="http://schemas.openxmlformats.org/drawingml/2006/main"/>
        </p:blipFill>
        <p:spPr>
          <a:xfrm xmlns:a="http://schemas.openxmlformats.org/drawingml/2006/main">
            <a:off x="613833" y="1809750"/>
            <a:ext cx="5249333" cy="2952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64109-49C2-43DF-9DC6-07835880D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d690a3da44744"/>
          <a:stretch xmlns:a="http://schemas.openxmlformats.org/drawingml/2006/main"/>
        </p:blipFill>
        <p:spPr>
          <a:xfrm xmlns:a="http://schemas.openxmlformats.org/drawingml/2006/main">
            <a:off x="6328833" y="1809750"/>
            <a:ext cx="5249333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CONCEPTUAL ANIMATION">
            <a:extLst xmlns:a="http://schemas.openxmlformats.org/drawingml/2006/main">
              <a:ext uri="{FF2B5EF4-FFF2-40B4-BE49-F238E27FC236}">
                <a16:creationId xmlns:a16="http://schemas.microsoft.com/office/drawing/2014/main" id="{23BCE3CB-A3DE-44BA-AD55-4983BD2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5257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5B5B5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5B5B5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B5B5B5"/>
                </a:solidFill>
                <a:latin typeface="Input Mono"/>
                <a:ea typeface="Input Mono"/>
                <a:cs typeface="Input Mono"/>
              </a:rPr>
              <a:t>CONCEPTUAL ANIMATION</a:t>
            </a:r>
          </a:p>
        </p:txBody>
      </p:sp>
      <p:sp>
        <p:nvSpPr>
          <p:cNvPr id="5" name="GAME INTERPRETATION">
            <a:extLst xmlns:a="http://schemas.openxmlformats.org/drawingml/2006/main">
              <a:ext uri="{FF2B5EF4-FFF2-40B4-BE49-F238E27FC236}">
                <a16:creationId xmlns:a16="http://schemas.microsoft.com/office/drawing/2014/main" id="{1436088D-606E-4C5A-891F-D420AB06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29200"/>
            <a:ext cx="5257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5B5B5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5B5B5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B5B5B5"/>
                </a:solidFill>
                <a:latin typeface="Input Mono"/>
                <a:ea typeface="Input Mono"/>
                <a:cs typeface="Input Mono"/>
              </a:rPr>
              <a:t>GAME INTERPRETATION</a:t>
            </a:r>
          </a:p>
        </p:txBody>
      </p:sp>
      <p:sp>
        <p:nvSpPr>
          <p:cNvPr id="6" name="Read the storm. Reposition.">
            <a:extLst xmlns:a="http://schemas.openxmlformats.org/drawingml/2006/main">
              <a:ext uri="{FF2B5EF4-FFF2-40B4-BE49-F238E27FC236}">
                <a16:creationId xmlns:a16="http://schemas.microsoft.com/office/drawing/2014/main" id="{C775B76A-5599-4D55-A2B9-1CC414AF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40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Read the storm. Reposition.</a:t>
            </a:r>
          </a:p>
        </p:txBody>
      </p:sp>
      <p:sp>
        <p:nvSpPr>
          <p:cNvPr id="7" name="06 / DYNAMO">
            <a:extLst xmlns:a="http://schemas.openxmlformats.org/drawingml/2006/main">
              <a:ext uri="{FF2B5EF4-FFF2-40B4-BE49-F238E27FC236}">
                <a16:creationId xmlns:a16="http://schemas.microsoft.com/office/drawing/2014/main" id="{E6056840-9C97-4D74-9B13-5275279E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06 / DYNAMO</a:t>
            </a:r>
          </a:p>
        </p:txBody>
      </p:sp>
    </p:spTree>
    <p:extLst>
      <p:ext uri="{BB962C8B-B14F-4D97-AF65-F5344CB8AC3E}">
        <p14:creationId xmlns:p14="http://schemas.microsoft.com/office/powerpoint/2010/main" val="1770649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HE PLANE&#10;FOLDS">
            <a:extLst xmlns:a="http://schemas.openxmlformats.org/drawingml/2006/main">
              <a:ext uri="{FF2B5EF4-FFF2-40B4-BE49-F238E27FC236}">
                <a16:creationId xmlns:a16="http://schemas.microsoft.com/office/drawing/2014/main" id="{71D6D221-7407-4B16-8BAD-67C44D30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47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7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47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5475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THE PLANE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47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5475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FOLDS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029F2-C7A1-4E96-BD42-F2479FCB72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d3aa4091c49eb"/>
          <a:stretch xmlns:a="http://schemas.openxmlformats.org/drawingml/2006/main"/>
        </p:blipFill>
        <p:spPr>
          <a:xfrm xmlns:a="http://schemas.openxmlformats.org/drawingml/2006/main">
            <a:off x="5448300" y="1071563"/>
            <a:ext cx="6134100" cy="4600575"/>
          </a:xfrm>
          <a:prstGeom xmlns:a="http://schemas.openxmlformats.org/drawingml/2006/main" prst="rect">
            <a:avLst/>
          </a:prstGeom>
        </p:spPr>
      </p:pic>
      <p:sp>
        <p:nvSpPr>
          <p:cNvPr id="3" name="Same player.&#10;A different connection.">
            <a:extLst xmlns:a="http://schemas.openxmlformats.org/drawingml/2006/main">
              <a:ext uri="{FF2B5EF4-FFF2-40B4-BE49-F238E27FC236}">
                <a16:creationId xmlns:a16="http://schemas.microsoft.com/office/drawing/2014/main" id="{273D2675-1777-4236-B440-D8B164DF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Same player.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250" b="0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A different connection.</a:t>
            </a:r>
          </a:p>
        </p:txBody>
      </p:sp>
      <p:sp>
        <p:nvSpPr>
          <p:cNvPr id="4" name="07 / SINGULARITY / GEOMETRIC INTERPRETAT">
            <a:extLst xmlns:a="http://schemas.openxmlformats.org/drawingml/2006/main">
              <a:ext uri="{FF2B5EF4-FFF2-40B4-BE49-F238E27FC236}">
                <a16:creationId xmlns:a16="http://schemas.microsoft.com/office/drawing/2014/main" id="{5D518BED-40EE-405F-B8EA-91C83FFD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07 / SINGULARITY / GEOMETRIC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772058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RUCTURES AT DIFFERENT SCALES">
            <a:extLst xmlns:a="http://schemas.openxmlformats.org/drawingml/2006/main">
              <a:ext uri="{FF2B5EF4-FFF2-40B4-BE49-F238E27FC236}">
                <a16:creationId xmlns:a16="http://schemas.microsoft.com/office/drawing/2014/main" id="{A4A337CD-6726-48D7-AF1F-E9F8B93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36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STRUCTURES AT DIFFERENT SCALES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6642-71E7-44F2-BBAD-D77CC9CA7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4254654004a4f"/>
          <a:stretch xmlns:a="http://schemas.openxmlformats.org/drawingml/2006/main"/>
        </p:blipFill>
        <p:spPr>
          <a:xfrm xmlns:a="http://schemas.openxmlformats.org/drawingml/2006/main">
            <a:off x="609600" y="1902619"/>
            <a:ext cx="5257800" cy="2957513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44656-42FF-4BF0-9CBB-5B6402811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8a221278e46c3"/>
          <a:stretch xmlns:a="http://schemas.openxmlformats.org/drawingml/2006/main"/>
        </p:blipFill>
        <p:spPr>
          <a:xfrm xmlns:a="http://schemas.openxmlformats.org/drawingml/2006/main">
            <a:off x="6324600" y="1902619"/>
            <a:ext cx="5257800" cy="2957513"/>
          </a:xfrm>
          <a:prstGeom xmlns:a="http://schemas.openxmlformats.org/drawingml/2006/main" prst="rect">
            <a:avLst/>
          </a:prstGeom>
        </p:spPr>
      </p:pic>
      <p:sp>
        <p:nvSpPr>
          <p:cNvPr id="4" name="COSMOS">
            <a:extLst xmlns:a="http://schemas.openxmlformats.org/drawingml/2006/main">
              <a:ext uri="{FF2B5EF4-FFF2-40B4-BE49-F238E27FC236}">
                <a16:creationId xmlns:a16="http://schemas.microsoft.com/office/drawing/2014/main" id="{47FD208C-1B82-4B77-A7AF-D18BA7E8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625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COSMOS</a:t>
            </a:r>
          </a:p>
        </p:txBody>
      </p:sp>
      <p:sp>
        <p:nvSpPr>
          <p:cNvPr id="5" name="EMERGENCE">
            <a:extLst xmlns:a="http://schemas.openxmlformats.org/drawingml/2006/main">
              <a:ext uri="{FF2B5EF4-FFF2-40B4-BE49-F238E27FC236}">
                <a16:creationId xmlns:a16="http://schemas.microsoft.com/office/drawing/2014/main" id="{DD7B2250-DB6F-4969-A512-3AF2319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340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2625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EMERGENCE</a:t>
            </a:r>
          </a:p>
        </p:txBody>
      </p:sp>
      <p:sp>
        <p:nvSpPr>
          <p:cNvPr id="6" name="08 / LARGE STRUCTURES / LOCAL INTERACTIO">
            <a:extLst xmlns:a="http://schemas.openxmlformats.org/drawingml/2006/main">
              <a:ext uri="{FF2B5EF4-FFF2-40B4-BE49-F238E27FC236}">
                <a16:creationId xmlns:a16="http://schemas.microsoft.com/office/drawing/2014/main" id="{C6BC43A2-407B-45B0-A805-0C400DEC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989B9E"/>
                </a:solidFill>
                <a:latin typeface="Input Mono"/>
                <a:ea typeface="Input Mono"/>
                <a:cs typeface="Input Mono"/>
              </a:rPr>
              <a:t>08 / LARGE STRUCTURES / LOCAL INTERACTIONS</a:t>
            </a:r>
          </a:p>
        </p:txBody>
      </p:sp>
    </p:spTree>
    <p:extLst>
      <p:ext uri="{BB962C8B-B14F-4D97-AF65-F5344CB8AC3E}">
        <p14:creationId xmlns:p14="http://schemas.microsoft.com/office/powerpoint/2010/main" val="388574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 SMALL PLACE&#10;IN A LARGER&#10;WORLD">
            <a:extLst xmlns:a="http://schemas.openxmlformats.org/drawingml/2006/main">
              <a:ext uri="{FF2B5EF4-FFF2-40B4-BE49-F238E27FC236}">
                <a16:creationId xmlns:a16="http://schemas.microsoft.com/office/drawing/2014/main" id="{9D61878E-26B0-4278-B079-773321FB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A SMALL PLACE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IN A LARGER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defRPr>
            </a:pPr>
            <a:r>
              <a:rPr sz="6900" b="1">
                <a:solidFill>
                  <a:srgbClr val="FFFFFF"/>
                </a:solidFill>
                <a:latin typeface="Input Mono"/>
                <a:ea typeface="Input Mono"/>
                <a:cs typeface="Input Mono"/>
              </a:rPr>
              <a:t>WORLD</a:t>
            </a:r>
          </a:p>
        </p:txBody>
      </p:sp>
      <p:sp>
        <p:nvSpPr>
          <p:cNvPr id="2" name="MASSIVE / MATT FRY">
            <a:extLst xmlns:a="http://schemas.openxmlformats.org/drawingml/2006/main">
              <a:ext uri="{FF2B5EF4-FFF2-40B4-BE49-F238E27FC236}">
                <a16:creationId xmlns:a16="http://schemas.microsoft.com/office/drawing/2014/main" id="{AFD6400D-472C-4723-99C7-9BBAA70C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1B1B1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1B1B1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B1B1B1"/>
                </a:solidFill>
                <a:latin typeface="Input Mono"/>
                <a:ea typeface="Input Mono"/>
                <a:cs typeface="Input Mono"/>
              </a:rPr>
              <a:t>MASSIVE / MATT FRY</a:t>
            </a:r>
          </a:p>
        </p:txBody>
      </p:sp>
    </p:spTree>
    <p:extLst>
      <p:ext uri="{BB962C8B-B14F-4D97-AF65-F5344CB8AC3E}">
        <p14:creationId xmlns:p14="http://schemas.microsoft.com/office/powerpoint/2010/main" val="999906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2026-10-15T20:26:52.4010000Z</dcterms:created>
  <dcterms:modified xsi:type="dcterms:W3CDTF">2026-10-15T20:26:52.4010000Z</dcterms:modified>
</coreProperties>
</file>