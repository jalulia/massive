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e6dd017235474d" /><Relationship Type="http://schemas.openxmlformats.org/officeDocument/2006/relationships/extended-properties" Target="/docProps/app.xml" Id="Refe67b24c17344c9" /><Relationship Type="http://schemas.openxmlformats.org/officeDocument/2006/relationships/officeDocument" Target="/ppt/presentation.xml" Id="Re0a04f02b8ee45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39759b8da425f"/>
  </p:sldMasterIdLst>
  <p:notesMasterIdLst>
    <p:notesMasterId xmlns:r="http://schemas.openxmlformats.org/officeDocument/2006/relationships" r:id="R7c42eda1192443d4"/>
  </p:notesMasterIdLst>
  <p:sldIdLst>
    <p:sldId xmlns:r="http://schemas.openxmlformats.org/officeDocument/2006/relationships" id="256" r:id="R5812326174d4442d"/>
    <p:sldId xmlns:r="http://schemas.openxmlformats.org/officeDocument/2006/relationships" id="257" r:id="Rb4eb81cc06484bbd"/>
    <p:sldId xmlns:r="http://schemas.openxmlformats.org/officeDocument/2006/relationships" id="258" r:id="Rcfb310860f0240ca"/>
    <p:sldId xmlns:r="http://schemas.openxmlformats.org/officeDocument/2006/relationships" id="259" r:id="Rb73e8810ed624e6e"/>
    <p:sldId xmlns:r="http://schemas.openxmlformats.org/officeDocument/2006/relationships" id="260" r:id="Rae3dbc6aeca94c56"/>
    <p:sldId xmlns:r="http://schemas.openxmlformats.org/officeDocument/2006/relationships" id="261" r:id="R5d064207f3404d61"/>
    <p:sldId xmlns:r="http://schemas.openxmlformats.org/officeDocument/2006/relationships" id="262" r:id="Rfb3c8998e76e46db"/>
    <p:sldId xmlns:r="http://schemas.openxmlformats.org/officeDocument/2006/relationships" id="263" r:id="Re97b8473f84d490a"/>
    <p:sldId xmlns:r="http://schemas.openxmlformats.org/officeDocument/2006/relationships" id="264" r:id="Rdadcf962db9544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8b7c85b6fb4b01" /><Relationship Type="http://schemas.openxmlformats.org/officeDocument/2006/relationships/slideMaster" Target="/ppt/slideMasters/slideMaster1.xml" Id="R70939759b8da425f" /><Relationship Type="http://schemas.openxmlformats.org/officeDocument/2006/relationships/notesMaster" Target="/ppt/notesMasters/notesMaster1.xml" Id="R7c42eda1192443d4" /><Relationship Type="http://schemas.openxmlformats.org/officeDocument/2006/relationships/presProps" Target="/ppt/presProps.xml" Id="R5ed91714596b433e" /><Relationship Type="http://schemas.openxmlformats.org/officeDocument/2006/relationships/tableStyles" Target="/ppt/tableStyles.xml" Id="R0962f890c8344a88" /><Relationship Type="http://schemas.openxmlformats.org/officeDocument/2006/relationships/slide" Target="/ppt/slides/slide1.xml" Id="R5812326174d4442d" /><Relationship Type="http://schemas.openxmlformats.org/officeDocument/2006/relationships/slide" Target="/ppt/slides/slide2.xml" Id="Rb4eb81cc06484bbd" /><Relationship Type="http://schemas.openxmlformats.org/officeDocument/2006/relationships/slide" Target="/ppt/slides/slide3.xml" Id="Rcfb310860f0240ca" /><Relationship Type="http://schemas.openxmlformats.org/officeDocument/2006/relationships/slide" Target="/ppt/slides/slide4.xml" Id="Rb73e8810ed624e6e" /><Relationship Type="http://schemas.openxmlformats.org/officeDocument/2006/relationships/slide" Target="/ppt/slides/slide5.xml" Id="Rae3dbc6aeca94c56" /><Relationship Type="http://schemas.openxmlformats.org/officeDocument/2006/relationships/slide" Target="/ppt/slides/slide6.xml" Id="R5d064207f3404d61" /><Relationship Type="http://schemas.openxmlformats.org/officeDocument/2006/relationships/slide" Target="/ppt/slides/slide7.xml" Id="Rfb3c8998e76e46db" /><Relationship Type="http://schemas.openxmlformats.org/officeDocument/2006/relationships/slide" Target="/ppt/slides/slide8.xml" Id="Re97b8473f84d490a" /><Relationship Type="http://schemas.openxmlformats.org/officeDocument/2006/relationships/slide" Target="/ppt/slides/slide9.xml" Id="Rdadcf962db9544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e08482b51a49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b46c754cd1456f" /><Relationship Type="http://schemas.openxmlformats.org/officeDocument/2006/relationships/notesMaster" Target="/ppt/notesMasters/notesMaster1.xml" Id="R0759d966895f49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edbb82e14c45a7" /><Relationship Type="http://schemas.openxmlformats.org/officeDocument/2006/relationships/notesMaster" Target="/ppt/notesMasters/notesMaster1.xml" Id="R4409f1f3614743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41ff098ea4d01" /><Relationship Type="http://schemas.openxmlformats.org/officeDocument/2006/relationships/notesMaster" Target="/ppt/notesMasters/notesMaster1.xml" Id="R685dc937eaff4e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467b37f1954726" /><Relationship Type="http://schemas.openxmlformats.org/officeDocument/2006/relationships/notesMaster" Target="/ppt/notesMasters/notesMaster1.xml" Id="R704ace639dd646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a4116caebf4fb3" /><Relationship Type="http://schemas.openxmlformats.org/officeDocument/2006/relationships/notesMaster" Target="/ppt/notesMasters/notesMaster1.xml" Id="R438244d66fd640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b1b3326bb646b6" /><Relationship Type="http://schemas.openxmlformats.org/officeDocument/2006/relationships/notesMaster" Target="/ppt/notesMasters/notesMaster1.xml" Id="R929c8c98ee4640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676feffd504c0f" /><Relationship Type="http://schemas.openxmlformats.org/officeDocument/2006/relationships/notesMaster" Target="/ppt/notesMasters/notesMaster1.xml" Id="Rbc8be4d2171143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5158427a434f61" /><Relationship Type="http://schemas.openxmlformats.org/officeDocument/2006/relationships/notesMaster" Target="/ppt/notesMasters/notesMaster1.xml" Id="Re5b21ba4ba9342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685732046d485e" /><Relationship Type="http://schemas.openxmlformats.org/officeDocument/2006/relationships/notesMaster" Target="/ppt/notesMasters/notesMaster1.xml" Id="R120ead88c90649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Powers of Ten still © Eames Office, https://www.eamesoffice.com/the-work/powers-of-ten/. COSMOS and Flatland are influences named by Matt; personal story and signed-book photograph remain editorial inputs, not depicted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Ordinary gameplay uses a shared XZ plane. The flat-player premise is artistic and functional; colliders and effects have volume. Prior LATTICE capture, 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Experiment photograph: Harvard Natural Sciences Lecture Demonstrations, https://sciencedemonstrations.fas.harvard.edu/presentations/big-chladni-plate. Sand collects at nodal lines on a vibrating plate. MASSIVE's Resonance uses authored Chladni-inspired curves; it is not a sand or plate solver.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Orbital-inspired game distributions share a density function with encounter probability. Shape basis: https://ocw.mit.edu/courses/18-755-lie-groups-and-lie-algebras-ii-spring-2024/mit18_755_s24_lec12.pdf. Not calibrated atomic wavefunctions; an impact ellipse is feedback, not an electron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NASA conceptual animation: NASA Goddard/CIL/Wes Buchanan, Krystofer Kim, https://svs.gsfc.nasa.gov/14892. The active DYNAMO level uses an authored organic field and storm envelope. SWMF/BATS-R-US snapshots remain a separate reference prototype and do not currently drive gameplay storms.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SINGULARITY connects a continuous folded surface. Portal travel is an authored nonlethal passage; it does not model a traversable astrophysical black hole. Use a full uninterrupted traversal before showing the held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COSMOS is an art-directed evolving cosmic web, not a predictive cosmological solver. EMERGENCE combines local attraction/repulsion with authored organism recognition and metabolism; it does not reconstruct the origin of life. Both shown in new 15 October captures.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Sparse closing screen; return to the player and use Matt’s own closing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d46c5ef3b4f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42155b06144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6958e3aa844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af4aaf6ca44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615f9d49d45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3370ba2254b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095E57-D212-435D-A555-CB0F7ADC0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39880C-AC02-42E2-BD33-CA501F21A6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F4897D-5D4F-436A-BF15-F22CF76654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3AD5FE-FE51-42C6-8AF2-A4471D8E56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F172C7-EC96-4A5B-B5E1-0154A546C9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3BFF33-5075-48D7-B940-8913D78E3C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4E6FD0-8443-4DC7-BF6D-149F70E583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F86710-67A3-4AE0-AC63-FD68640486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6A2B20-0921-494A-99BD-530C80CA2B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95499C-3F57-40EB-900F-04F8077A7C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e6ac28e4aa440f" /><Relationship Type="http://schemas.openxmlformats.org/officeDocument/2006/relationships/slideLayout" Target="/ppt/slideLayouts/slideLayout1.xml" Id="Rce0660658dfe477c" /><Relationship Type="http://schemas.openxmlformats.org/officeDocument/2006/relationships/slideLayout" Target="/ppt/slideLayouts/slideLayout2.xml" Id="R7b67e1be9fb94d9f" /><Relationship Type="http://schemas.openxmlformats.org/officeDocument/2006/relationships/slideLayout" Target="/ppt/slideLayouts/slideLayout3.xml" Id="R27674b98eea84d6f" /><Relationship Type="http://schemas.openxmlformats.org/officeDocument/2006/relationships/slideLayout" Target="/ppt/slideLayouts/slideLayout4.xml" Id="R6ae79b612a054f9d" /><Relationship Type="http://schemas.openxmlformats.org/officeDocument/2006/relationships/slideLayout" Target="/ppt/slideLayouts/slideLayout5.xml" Id="Rb577a365af264e66" /><Relationship Type="http://schemas.openxmlformats.org/officeDocument/2006/relationships/slideLayout" Target="/ppt/slideLayouts/slideLayout6.xml" Id="R93cfac2e2ebe45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0660658dfe477c"/>
    <p:sldLayoutId xmlns:r="http://schemas.openxmlformats.org/officeDocument/2006/relationships" id="2147483650" r:id="R7b67e1be9fb94d9f"/>
    <p:sldLayoutId xmlns:r="http://schemas.openxmlformats.org/officeDocument/2006/relationships" id="2147483651" r:id="R27674b98eea84d6f"/>
    <p:sldLayoutId xmlns:r="http://schemas.openxmlformats.org/officeDocument/2006/relationships" id="2147483652" r:id="R6ae79b612a054f9d"/>
    <p:sldLayoutId xmlns:r="http://schemas.openxmlformats.org/officeDocument/2006/relationships" id="2147483653" r:id="Rb577a365af264e66"/>
    <p:sldLayoutId xmlns:r="http://schemas.openxmlformats.org/officeDocument/2006/relationships" id="2147483654" r:id="R93cfac2e2ebe45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4503d783146b0" /><Relationship Type="http://schemas.openxmlformats.org/officeDocument/2006/relationships/image" Target="/ppt/media/image.jpeg" Id="R748d218c3fda459d" /><Relationship Type="http://schemas.openxmlformats.org/officeDocument/2006/relationships/notesSlide" Target="/ppt/notesSlides/notesSlide1.xml" Id="R13d48d868e8a4e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510d067284301" /><Relationship Type="http://schemas.openxmlformats.org/officeDocument/2006/relationships/image" Target="/ppt/media/image2.jpeg" Id="Rdaac3f9b89e24468" /><Relationship Type="http://schemas.openxmlformats.org/officeDocument/2006/relationships/notesSlide" Target="/ppt/notesSlides/notesSlide2.xml" Id="Rae3372e231e749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0b62c020e4c56" /><Relationship Type="http://schemas.openxmlformats.org/officeDocument/2006/relationships/image" Target="/ppt/media/image.png" Id="R9ba541024ef941d7" /><Relationship Type="http://schemas.openxmlformats.org/officeDocument/2006/relationships/notesSlide" Target="/ppt/notesSlides/notesSlide3.xml" Id="R60ab36bb3f9447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92190531d4068" /><Relationship Type="http://schemas.openxmlformats.org/officeDocument/2006/relationships/image" Target="/ppt/media/image3.jpeg" Id="Rd1b9d92f08694c0a" /><Relationship Type="http://schemas.openxmlformats.org/officeDocument/2006/relationships/image" Target="/ppt/media/image4.jpeg" Id="R64e7ad87c41f41ef" /><Relationship Type="http://schemas.openxmlformats.org/officeDocument/2006/relationships/notesSlide" Target="/ppt/notesSlides/notesSlide4.xml" Id="R32dc68765f7246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25f3640fb4818" /><Relationship Type="http://schemas.openxmlformats.org/officeDocument/2006/relationships/image" Target="/ppt/media/image2.png" Id="Rb927630c33c84862" /><Relationship Type="http://schemas.openxmlformats.org/officeDocument/2006/relationships/notesSlide" Target="/ppt/notesSlides/notesSlide5.xml" Id="R7220d65b15524d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eb8f3abc54d90" /><Relationship Type="http://schemas.openxmlformats.org/officeDocument/2006/relationships/image" Target="/ppt/media/image5.jpeg" Id="R7abb4bd0db214a4f" /><Relationship Type="http://schemas.openxmlformats.org/officeDocument/2006/relationships/image" Target="/ppt/media/image3.png" Id="R1bd6b9ed554c4d1d" /><Relationship Type="http://schemas.openxmlformats.org/officeDocument/2006/relationships/notesSlide" Target="/ppt/notesSlides/notesSlide6.xml" Id="Rb78be86efc924d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58ed950264c18" /><Relationship Type="http://schemas.openxmlformats.org/officeDocument/2006/relationships/image" Target="/ppt/media/image4.png" Id="Rf2cc696a55064b4a" /><Relationship Type="http://schemas.openxmlformats.org/officeDocument/2006/relationships/notesSlide" Target="/ppt/notesSlides/notesSlide7.xml" Id="R8adea3a1f1b841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9cda7b2f643e2" /><Relationship Type="http://schemas.openxmlformats.org/officeDocument/2006/relationships/image" Target="/ppt/media/image5.png" Id="R29168ae53e5942d3" /><Relationship Type="http://schemas.openxmlformats.org/officeDocument/2006/relationships/image" Target="/ppt/media/image6.png" Id="Rc8d4bb5d9f00429d" /><Relationship Type="http://schemas.openxmlformats.org/officeDocument/2006/relationships/notesSlide" Target="/ppt/notesSlides/notesSlide8.xml" Id="R13d9de288dac41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27282e787438b" /><Relationship Type="http://schemas.openxmlformats.org/officeDocument/2006/relationships/notesSlide" Target="/ppt/notesSlides/notesSlide9.xml" Id="R3d4aa80dbb4444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TT FRY / MUSEUM OF THE MOVING IMAGE">
            <a:extLst xmlns:a="http://schemas.openxmlformats.org/drawingml/2006/main">
              <a:ext uri="{FF2B5EF4-FFF2-40B4-BE49-F238E27FC236}">
                <a16:creationId xmlns:a16="http://schemas.microsoft.com/office/drawing/2014/main" id="{BAC95D35-B841-4B78-A193-BCE6E98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424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242424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242424"/>
                </a:solidFill>
                <a:latin typeface="Input Mono"/>
                <a:ea typeface="Input Mono"/>
                <a:cs typeface="Input Mono"/>
              </a:rPr>
              <a:t>MATT FRY / MUSEUM OF THE MOVING IMAGE</a:t>
            </a:r>
          </a:p>
        </p:txBody>
      </p:sp>
      <p:sp>
        <p:nvSpPr>
          <p:cNvPr id="2" name="MASSIVE">
            <a:extLst xmlns:a="http://schemas.openxmlformats.org/drawingml/2006/main">
              <a:ext uri="{FF2B5EF4-FFF2-40B4-BE49-F238E27FC236}">
                <a16:creationId xmlns:a16="http://schemas.microsoft.com/office/drawing/2014/main" id="{FE9EB969-4AE8-42B6-ACBA-2A90D82F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11144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8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138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MASSIVE</a:t>
            </a:r>
          </a:p>
        </p:txBody>
      </p:sp>
      <p:sp>
        <p:nvSpPr>
          <p:cNvPr id="3" name="A small place&#10;in a larger world">
            <a:extLst xmlns:a="http://schemas.openxmlformats.org/drawingml/2006/main">
              <a:ext uri="{FF2B5EF4-FFF2-40B4-BE49-F238E27FC236}">
                <a16:creationId xmlns:a16="http://schemas.microsoft.com/office/drawing/2014/main" id="{EFBD88BC-8136-489B-96A1-ED42307B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9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49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A small place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9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49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in a larger world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5C3CE-C439-4AB4-B3EE-A927CC642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d218c3fda459d"/>
          <a:srcRect xmlns:a="http://schemas.openxmlformats.org/drawingml/2006/main" l="12218" t="0" r="122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2962275"/>
            <a:ext cx="4248150" cy="3162300"/>
          </a:xfrm>
          <a:prstGeom xmlns:a="http://schemas.openxmlformats.org/drawingml/2006/main" prst="rect">
            <a:avLst/>
          </a:prstGeom>
        </p:spPr>
      </p:pic>
      <p:sp>
        <p:nvSpPr>
          <p:cNvPr id="5" name="Science as a material for play">
            <a:extLst xmlns:a="http://schemas.openxmlformats.org/drawingml/2006/main">
              <a:ext uri="{FF2B5EF4-FFF2-40B4-BE49-F238E27FC236}">
                <a16:creationId xmlns:a16="http://schemas.microsoft.com/office/drawing/2014/main" id="{BD923CD1-CE14-4688-8181-07F9B454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574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574F"/>
                </a:solidFill>
                <a:latin typeface="Input Mono"/>
                <a:ea typeface="Input Mono"/>
                <a:cs typeface="Input Mono"/>
              </a:defRPr>
            </a:pPr>
            <a:r>
              <a:rPr sz="2025" b="0">
                <a:solidFill>
                  <a:srgbClr val="57574F"/>
                </a:solidFill>
                <a:latin typeface="Input Mono"/>
                <a:ea typeface="Input Mono"/>
                <a:cs typeface="Input Mono"/>
              </a:rPr>
              <a:t>Science as a material for play</a:t>
            </a:r>
          </a:p>
        </p:txBody>
      </p:sp>
    </p:spTree>
    <p:extLst>
      <p:ext uri="{BB962C8B-B14F-4D97-AF65-F5344CB8AC3E}">
        <p14:creationId xmlns:p14="http://schemas.microsoft.com/office/powerpoint/2010/main" val="1888265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Ways of seeing">
            <a:extLst xmlns:a="http://schemas.openxmlformats.org/drawingml/2006/main">
              <a:ext uri="{FF2B5EF4-FFF2-40B4-BE49-F238E27FC236}">
                <a16:creationId xmlns:a16="http://schemas.microsoft.com/office/drawing/2014/main" id="{431EA612-6BDF-454E-8935-037CD53B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0">
                <a:solidFill>
                  <a:srgbClr val="101010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700" b="0">
                <a:solidFill>
                  <a:srgbClr val="101010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5700" b="0">
                <a:solidFill>
                  <a:srgbClr val="101010"/>
                </a:solidFill>
                <a:latin typeface="NeuzeitSHeavy-Book"/>
                <a:ea typeface="NeuzeitSHeavy-Book"/>
                <a:cs typeface="NeuzeitSHeavy-Book"/>
              </a:rPr>
              <a:t>Ways of seeing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5B95A-E3DF-48A1-900E-15857A5462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c3f9b89e24468"/>
          <a:stretch xmlns:a="http://schemas.openxmlformats.org/drawingml/2006/main"/>
        </p:blipFill>
        <p:spPr>
          <a:xfrm xmlns:a="http://schemas.openxmlformats.org/drawingml/2006/main">
            <a:off x="5905500" y="1621594"/>
            <a:ext cx="5676900" cy="4224412"/>
          </a:xfrm>
          <a:prstGeom xmlns:a="http://schemas.openxmlformats.org/drawingml/2006/main" prst="rect">
            <a:avLst/>
          </a:prstGeom>
        </p:spPr>
      </p:pic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9CD587A7-7D9F-4841-820D-F355BE5E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0462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A0462F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A0462F"/>
                </a:solidFill>
                <a:latin typeface="Input Mono"/>
                <a:ea typeface="Input Mono"/>
                <a:cs typeface="Input Mono"/>
              </a:rPr>
              <a:t>01</a:t>
            </a:r>
          </a:p>
        </p:txBody>
      </p:sp>
      <p:sp>
        <p:nvSpPr>
          <p:cNvPr id="4" name="COSMOS">
            <a:extLst xmlns:a="http://schemas.openxmlformats.org/drawingml/2006/main">
              <a:ext uri="{FF2B5EF4-FFF2-40B4-BE49-F238E27FC236}">
                <a16:creationId xmlns:a16="http://schemas.microsoft.com/office/drawing/2014/main" id="{047E4D37-654C-4C43-8999-8315ED9E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335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COSMOS</a:t>
            </a:r>
          </a:p>
        </p:txBody>
      </p:sp>
      <p:sp>
        <p:nvSpPr>
          <p:cNvPr id="5" name="Carl Sagan">
            <a:extLst xmlns:a="http://schemas.openxmlformats.org/drawingml/2006/main">
              <a:ext uri="{FF2B5EF4-FFF2-40B4-BE49-F238E27FC236}">
                <a16:creationId xmlns:a16="http://schemas.microsoft.com/office/drawing/2014/main" id="{9F82DA27-FBC1-48AF-A0EF-58F0E748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24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554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5554E"/>
                </a:solidFill>
                <a:latin typeface="Input Mono"/>
                <a:ea typeface="Input Mono"/>
                <a:cs typeface="Input Mono"/>
              </a:defRPr>
            </a:pPr>
            <a:r>
              <a:rPr sz="1725" b="0">
                <a:solidFill>
                  <a:srgbClr val="55554E"/>
                </a:solidFill>
                <a:latin typeface="Input Mono"/>
                <a:ea typeface="Input Mono"/>
                <a:cs typeface="Input Mono"/>
              </a:rPr>
              <a:t>Carl Sagan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16BA812F-0180-4DBB-B280-D955DE1B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0462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A0462F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A0462F"/>
                </a:solidFill>
                <a:latin typeface="Input Mono"/>
                <a:ea typeface="Input Mono"/>
                <a:cs typeface="Input Mono"/>
              </a:rPr>
              <a:t>02</a:t>
            </a:r>
          </a:p>
        </p:txBody>
      </p:sp>
      <p:sp>
        <p:nvSpPr>
          <p:cNvPr id="7" name="Flatland">
            <a:extLst xmlns:a="http://schemas.openxmlformats.org/drawingml/2006/main">
              <a:ext uri="{FF2B5EF4-FFF2-40B4-BE49-F238E27FC236}">
                <a16:creationId xmlns:a16="http://schemas.microsoft.com/office/drawing/2014/main" id="{902D5730-508A-4BCD-A83F-219558C3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Flatland</a:t>
            </a:r>
          </a:p>
        </p:txBody>
      </p:sp>
      <p:sp>
        <p:nvSpPr>
          <p:cNvPr id="8" name="Edwin A. Abbott">
            <a:extLst xmlns:a="http://schemas.openxmlformats.org/drawingml/2006/main">
              <a:ext uri="{FF2B5EF4-FFF2-40B4-BE49-F238E27FC236}">
                <a16:creationId xmlns:a16="http://schemas.microsoft.com/office/drawing/2014/main" id="{EAEC6F5E-69A2-4AC3-90A6-4878C73F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554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5554E"/>
                </a:solidFill>
                <a:latin typeface="Input Mono"/>
                <a:ea typeface="Input Mono"/>
                <a:cs typeface="Input Mono"/>
              </a:defRPr>
            </a:pPr>
            <a:r>
              <a:rPr sz="1725" b="0">
                <a:solidFill>
                  <a:srgbClr val="55554E"/>
                </a:solidFill>
                <a:latin typeface="Input Mono"/>
                <a:ea typeface="Input Mono"/>
                <a:cs typeface="Input Mono"/>
              </a:rPr>
              <a:t>Edwin A. Abbott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F658066F-EA50-48A5-A0CC-C72F235D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0462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A0462F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A0462F"/>
                </a:solidFill>
                <a:latin typeface="Input Mono"/>
                <a:ea typeface="Input Mono"/>
                <a:cs typeface="Input Mono"/>
              </a:rPr>
              <a:t>03</a:t>
            </a:r>
          </a:p>
        </p:txBody>
      </p:sp>
      <p:sp>
        <p:nvSpPr>
          <p:cNvPr id="10" name="Powers of Ten">
            <a:extLst xmlns:a="http://schemas.openxmlformats.org/drawingml/2006/main">
              <a:ext uri="{FF2B5EF4-FFF2-40B4-BE49-F238E27FC236}">
                <a16:creationId xmlns:a16="http://schemas.microsoft.com/office/drawing/2014/main" id="{62E543E3-7CF6-4BCD-ABCE-2C01CA89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Powers of Ten</a:t>
            </a:r>
          </a:p>
        </p:txBody>
      </p:sp>
      <p:sp>
        <p:nvSpPr>
          <p:cNvPr id="11" name="Charles &amp; Ray Eames">
            <a:extLst xmlns:a="http://schemas.openxmlformats.org/drawingml/2006/main">
              <a:ext uri="{FF2B5EF4-FFF2-40B4-BE49-F238E27FC236}">
                <a16:creationId xmlns:a16="http://schemas.microsoft.com/office/drawing/2014/main" id="{55A7E9CB-CB76-4719-AC9C-69BCAD67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292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554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5554E"/>
                </a:solidFill>
                <a:latin typeface="Input Mono"/>
                <a:ea typeface="Input Mono"/>
                <a:cs typeface="Input Mono"/>
              </a:defRPr>
            </a:pPr>
            <a:r>
              <a:rPr sz="1725" b="0">
                <a:solidFill>
                  <a:srgbClr val="55554E"/>
                </a:solidFill>
                <a:latin typeface="Input Mono"/>
                <a:ea typeface="Input Mono"/>
                <a:cs typeface="Input Mono"/>
              </a:rPr>
              <a:t>Charles &amp; Ray Eames</a:t>
            </a:r>
          </a:p>
        </p:txBody>
      </p:sp>
      <p:sp>
        <p:nvSpPr>
          <p:cNvPr id="12" name="02 / WONDER / VIEWPOINT / SCALE">
            <a:extLst xmlns:a="http://schemas.openxmlformats.org/drawingml/2006/main">
              <a:ext uri="{FF2B5EF4-FFF2-40B4-BE49-F238E27FC236}">
                <a16:creationId xmlns:a16="http://schemas.microsoft.com/office/drawing/2014/main" id="{E66B3B9E-5923-46C7-A06A-16F50FB8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rPr>
              <a:t>02 / WONDER / VIEWPOINT / SCALE</a:t>
            </a:r>
          </a:p>
        </p:txBody>
      </p:sp>
    </p:spTree>
    <p:extLst>
      <p:ext uri="{BB962C8B-B14F-4D97-AF65-F5344CB8AC3E}">
        <p14:creationId xmlns:p14="http://schemas.microsoft.com/office/powerpoint/2010/main" val="1288748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ne plane of experience">
            <a:extLst xmlns:a="http://schemas.openxmlformats.org/drawingml/2006/main">
              <a:ext uri="{FF2B5EF4-FFF2-40B4-BE49-F238E27FC236}">
                <a16:creationId xmlns:a16="http://schemas.microsoft.com/office/drawing/2014/main" id="{42CFBE32-2F23-4B9D-A298-0DEBDF57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0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50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One plane of experience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940F7-A17E-42C5-A4AC-D6D551BDCC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541024ef941d7"/>
          <a:stretch xmlns:a="http://schemas.openxmlformats.org/drawingml/2006/main"/>
        </p:blipFill>
        <p:spPr>
          <a:xfrm xmlns:a="http://schemas.openxmlformats.org/drawingml/2006/main">
            <a:off x="3408892" y="1657350"/>
            <a:ext cx="7755467" cy="4362450"/>
          </a:xfrm>
          <a:prstGeom xmlns:a="http://schemas.openxmlformats.org/drawingml/2006/main" prst="rect">
            <a:avLst/>
          </a:prstGeom>
        </p:spPr>
      </p:pic>
      <p:sp>
        <p:nvSpPr>
          <p:cNvPr id="3" name="Move.&#10;Attack.&#10;Defend.">
            <a:extLst xmlns:a="http://schemas.openxmlformats.org/drawingml/2006/main">
              <a:ext uri="{FF2B5EF4-FFF2-40B4-BE49-F238E27FC236}">
                <a16:creationId xmlns:a16="http://schemas.microsoft.com/office/drawing/2014/main" id="{C4CA1AE6-5B68-4778-8443-33902AA4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190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1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Move.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1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1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Attack.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1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1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Defend.</a:t>
            </a:r>
          </a:p>
        </p:txBody>
      </p:sp>
      <p:sp>
        <p:nvSpPr>
          <p:cNvPr id="4" name="A shared surface&#10;for local play">
            <a:extLst xmlns:a="http://schemas.openxmlformats.org/drawingml/2006/main">
              <a:ext uri="{FF2B5EF4-FFF2-40B4-BE49-F238E27FC236}">
                <a16:creationId xmlns:a16="http://schemas.microsoft.com/office/drawing/2014/main" id="{82E34276-3010-44AE-A222-382B7A46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564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6564F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56564F"/>
                </a:solidFill>
                <a:latin typeface="Input Mono"/>
                <a:ea typeface="Input Mono"/>
                <a:cs typeface="Input Mono"/>
              </a:rPr>
              <a:t>A shared surface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6564F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56564F"/>
                </a:solidFill>
                <a:latin typeface="Input Mono"/>
                <a:ea typeface="Input Mono"/>
                <a:cs typeface="Input Mono"/>
              </a:rPr>
              <a:t>for local play</a:t>
            </a:r>
          </a:p>
        </p:txBody>
      </p:sp>
      <p:sp>
        <p:nvSpPr>
          <p:cNvPr id="5" name="03 / PLAYER / FIELD / CONTACT">
            <a:extLst xmlns:a="http://schemas.openxmlformats.org/drawingml/2006/main">
              <a:ext uri="{FF2B5EF4-FFF2-40B4-BE49-F238E27FC236}">
                <a16:creationId xmlns:a16="http://schemas.microsoft.com/office/drawing/2014/main" id="{A36AC500-A352-477C-B1AC-BE5A4CEC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rPr>
              <a:t>03 / PLAYER / FIELD / CONTACT</a:t>
            </a:r>
          </a:p>
        </p:txBody>
      </p:sp>
    </p:spTree>
    <p:extLst>
      <p:ext uri="{BB962C8B-B14F-4D97-AF65-F5344CB8AC3E}">
        <p14:creationId xmlns:p14="http://schemas.microsoft.com/office/powerpoint/2010/main" val="296071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 pattern becomes a place">
            <a:extLst xmlns:a="http://schemas.openxmlformats.org/drawingml/2006/main">
              <a:ext uri="{FF2B5EF4-FFF2-40B4-BE49-F238E27FC236}">
                <a16:creationId xmlns:a16="http://schemas.microsoft.com/office/drawing/2014/main" id="{6E8712A6-26F8-4796-BF85-1B2CC79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48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A pattern becomes a place</a:t>
            </a:r>
          </a:p>
        </p:txBody>
      </p:sp>
      <p:sp>
        <p:nvSpPr>
          <p:cNvPr id="2" name="layout background">
            <a:extLst xmlns:a="http://schemas.openxmlformats.org/drawingml/2006/main">
              <a:ext uri="{FF2B5EF4-FFF2-40B4-BE49-F238E27FC236}">
                <a16:creationId xmlns:a16="http://schemas.microsoft.com/office/drawing/2014/main" id="{27CCAFE8-5D5E-4FFE-BBBC-10175AB8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57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624D0-1988-4B61-BDEB-897EE86D6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9d92f08694c0a"/>
          <a:stretch xmlns:a="http://schemas.openxmlformats.org/drawingml/2006/main"/>
        </p:blipFill>
        <p:spPr>
          <a:xfrm xmlns:a="http://schemas.openxmlformats.org/drawingml/2006/main">
            <a:off x="1255848" y="1943100"/>
            <a:ext cx="3965305" cy="2971800"/>
          </a:xfrm>
          <a:prstGeom xmlns:a="http://schemas.openxmlformats.org/drawingml/2006/main" prst="rect">
            <a:avLst/>
          </a:prstGeom>
        </p:spPr>
      </p:pic>
      <p:sp>
        <p:nvSpPr>
          <p:cNvPr id="4" name="layout background">
            <a:extLst xmlns:a="http://schemas.openxmlformats.org/drawingml/2006/main">
              <a:ext uri="{FF2B5EF4-FFF2-40B4-BE49-F238E27FC236}">
                <a16:creationId xmlns:a16="http://schemas.microsoft.com/office/drawing/2014/main" id="{5A9A4E2F-0DDC-42EE-95DF-25331961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257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00E91-18A9-4B1E-BD0B-8BA20C985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7ad87c41f41ef"/>
          <a:stretch xmlns:a="http://schemas.openxmlformats.org/drawingml/2006/main"/>
        </p:blipFill>
        <p:spPr>
          <a:xfrm xmlns:a="http://schemas.openxmlformats.org/drawingml/2006/main">
            <a:off x="6324600" y="1950244"/>
            <a:ext cx="5257800" cy="2957513"/>
          </a:xfrm>
          <a:prstGeom xmlns:a="http://schemas.openxmlformats.org/drawingml/2006/main" prst="rect">
            <a:avLst/>
          </a:prstGeom>
        </p:spPr>
      </p:pic>
      <p:sp>
        <p:nvSpPr>
          <p:cNvPr id="6" name="Chladni plate">
            <a:extLst xmlns:a="http://schemas.openxmlformats.org/drawingml/2006/main">
              <a:ext uri="{FF2B5EF4-FFF2-40B4-BE49-F238E27FC236}">
                <a16:creationId xmlns:a16="http://schemas.microsoft.com/office/drawing/2014/main" id="{D48B40A3-240F-4B1D-B754-2752AA52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Chladni plate</a:t>
            </a:r>
          </a:p>
        </p:txBody>
      </p:sp>
      <p:sp>
        <p:nvSpPr>
          <p:cNvPr id="7" name="Resonance">
            <a:extLst xmlns:a="http://schemas.openxmlformats.org/drawingml/2006/main">
              <a:ext uri="{FF2B5EF4-FFF2-40B4-BE49-F238E27FC236}">
                <a16:creationId xmlns:a16="http://schemas.microsoft.com/office/drawing/2014/main" id="{7D4FC995-4C00-4BD9-B526-F4D046C2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Resonance</a:t>
            </a:r>
          </a:p>
        </p:txBody>
      </p:sp>
      <p:sp>
        <p:nvSpPr>
          <p:cNvPr id="8" name="Experiment / Harvard">
            <a:extLst xmlns:a="http://schemas.openxmlformats.org/drawingml/2006/main">
              <a:ext uri="{FF2B5EF4-FFF2-40B4-BE49-F238E27FC236}">
                <a16:creationId xmlns:a16="http://schemas.microsoft.com/office/drawing/2014/main" id="{06639AE1-65E2-48AE-995D-195D776F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rPr>
              <a:t>Experiment / Harvard</a:t>
            </a:r>
          </a:p>
        </p:txBody>
      </p:sp>
      <p:sp>
        <p:nvSpPr>
          <p:cNvPr id="9" name="Game interpretation / MASSIVE">
            <a:extLst xmlns:a="http://schemas.openxmlformats.org/drawingml/2006/main">
              <a:ext uri="{FF2B5EF4-FFF2-40B4-BE49-F238E27FC236}">
                <a16:creationId xmlns:a16="http://schemas.microsoft.com/office/drawing/2014/main" id="{03E3DF84-A446-4BB2-91AE-C03E19F7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674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rPr>
              <a:t>Game interpretation / MASSIVE</a:t>
            </a:r>
          </a:p>
        </p:txBody>
      </p:sp>
    </p:spTree>
    <p:extLst>
      <p:ext uri="{BB962C8B-B14F-4D97-AF65-F5344CB8AC3E}">
        <p14:creationId xmlns:p14="http://schemas.microsoft.com/office/powerpoint/2010/main" val="1083702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obability becomes an encounter">
            <a:extLst xmlns:a="http://schemas.openxmlformats.org/drawingml/2006/main">
              <a:ext uri="{FF2B5EF4-FFF2-40B4-BE49-F238E27FC236}">
                <a16:creationId xmlns:a16="http://schemas.microsoft.com/office/drawing/2014/main" id="{26D7E86D-7282-4DED-9DD3-3325D796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4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44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Probability becomes an encounter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A30EC-076B-4BF8-A96E-5A6B16DEB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7630c33c84862"/>
          <a:srcRect xmlns:a="http://schemas.openxmlformats.org/drawingml/2006/main" l="0" t="15990" r="0" b="15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6572250" cy="4095750"/>
          </a:xfrm>
          <a:prstGeom xmlns:a="http://schemas.openxmlformats.org/drawingml/2006/main" prst="rect">
            <a:avLst/>
          </a:prstGeom>
        </p:spPr>
      </p:pic>
      <p:sp>
        <p:nvSpPr>
          <p:cNvPr id="3" name="Density&#10;changes&#10;the odds">
            <a:extLst xmlns:a="http://schemas.openxmlformats.org/drawingml/2006/main">
              <a:ext uri="{FF2B5EF4-FFF2-40B4-BE49-F238E27FC236}">
                <a16:creationId xmlns:a16="http://schemas.microsoft.com/office/drawing/2014/main" id="{E532E329-F0CE-4D3C-8D8D-F4E09CD1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3867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0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50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Density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50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50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changes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50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50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the odds</a:t>
            </a:r>
          </a:p>
        </p:txBody>
      </p:sp>
      <p:sp>
        <p:nvSpPr>
          <p:cNvPr id="4" name="ORBITAL">
            <a:extLst xmlns:a="http://schemas.openxmlformats.org/drawingml/2006/main">
              <a:ext uri="{FF2B5EF4-FFF2-40B4-BE49-F238E27FC236}">
                <a16:creationId xmlns:a16="http://schemas.microsoft.com/office/drawing/2014/main" id="{EB6B7408-C232-4D1B-9CBF-F767ADB5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1495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0462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A0462F"/>
                </a:solidFill>
                <a:latin typeface="Input Mono"/>
                <a:ea typeface="Input Mono"/>
                <a:cs typeface="Input Mono"/>
              </a:defRPr>
            </a:pPr>
            <a:r>
              <a:rPr sz="1875" b="0">
                <a:solidFill>
                  <a:srgbClr val="A0462F"/>
                </a:solidFill>
                <a:latin typeface="Input Mono"/>
                <a:ea typeface="Input Mono"/>
                <a:cs typeface="Input Mono"/>
              </a:rPr>
              <a:t>ORBITAL</a:t>
            </a:r>
          </a:p>
        </p:txBody>
      </p:sp>
      <p:sp>
        <p:nvSpPr>
          <p:cNvPr id="5" name="05 / GAME INTERPRETATION">
            <a:extLst xmlns:a="http://schemas.openxmlformats.org/drawingml/2006/main">
              <a:ext uri="{FF2B5EF4-FFF2-40B4-BE49-F238E27FC236}">
                <a16:creationId xmlns:a16="http://schemas.microsoft.com/office/drawing/2014/main" id="{70B47FB8-3233-4282-8DD8-DE227924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rPr>
              <a:t>05 / GAME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647069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safe place moves">
            <a:extLst xmlns:a="http://schemas.openxmlformats.org/drawingml/2006/main">
              <a:ext uri="{FF2B5EF4-FFF2-40B4-BE49-F238E27FC236}">
                <a16:creationId xmlns:a16="http://schemas.microsoft.com/office/drawing/2014/main" id="{E69DB3D2-A2A0-4FC5-8495-23844785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5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5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55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The safe place moves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F266C-366D-41D5-B15D-97D1CE2E18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b4bd0db214a4f"/>
          <a:stretch xmlns:a="http://schemas.openxmlformats.org/drawingml/2006/main"/>
        </p:blipFill>
        <p:spPr>
          <a:xfrm xmlns:a="http://schemas.openxmlformats.org/drawingml/2006/main">
            <a:off x="613833" y="1866900"/>
            <a:ext cx="5249333" cy="29527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8E10B-BA80-474E-BCCB-5DD0C8AAE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6b9ed554c4d1d"/>
          <a:stretch xmlns:a="http://schemas.openxmlformats.org/drawingml/2006/main"/>
        </p:blipFill>
        <p:spPr>
          <a:xfrm xmlns:a="http://schemas.openxmlformats.org/drawingml/2006/main">
            <a:off x="6328833" y="1866900"/>
            <a:ext cx="5249333" cy="2952750"/>
          </a:xfrm>
          <a:prstGeom xmlns:a="http://schemas.openxmlformats.org/drawingml/2006/main" prst="rect">
            <a:avLst/>
          </a:prstGeom>
        </p:spPr>
      </p:pic>
      <p:sp>
        <p:nvSpPr>
          <p:cNvPr id="4" name="Solar wind / magnetosphere">
            <a:extLst xmlns:a="http://schemas.openxmlformats.org/drawingml/2006/main">
              <a:ext uri="{FF2B5EF4-FFF2-40B4-BE49-F238E27FC236}">
                <a16:creationId xmlns:a16="http://schemas.microsoft.com/office/drawing/2014/main" id="{740CAAA8-58D9-42E5-B142-F37D0156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21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Solar wind / magnetosphere</a:t>
            </a:r>
          </a:p>
        </p:txBody>
      </p:sp>
      <p:sp>
        <p:nvSpPr>
          <p:cNvPr id="5" name="DYNAMO">
            <a:extLst xmlns:a="http://schemas.openxmlformats.org/drawingml/2006/main">
              <a:ext uri="{FF2B5EF4-FFF2-40B4-BE49-F238E27FC236}">
                <a16:creationId xmlns:a16="http://schemas.microsoft.com/office/drawing/2014/main" id="{58CFD2E6-C918-4103-A0EA-02F7227D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054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21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DYNAMO</a:t>
            </a:r>
          </a:p>
        </p:txBody>
      </p:sp>
      <p:sp>
        <p:nvSpPr>
          <p:cNvPr id="6" name="NASA / Conceptual animation">
            <a:extLst xmlns:a="http://schemas.openxmlformats.org/drawingml/2006/main">
              <a:ext uri="{FF2B5EF4-FFF2-40B4-BE49-F238E27FC236}">
                <a16:creationId xmlns:a16="http://schemas.microsoft.com/office/drawing/2014/main" id="{047E3E89-3493-4227-9A9D-4CDF3B86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25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rPr>
              <a:t>NASA / Conceptual animation</a:t>
            </a:r>
          </a:p>
        </p:txBody>
      </p:sp>
      <p:sp>
        <p:nvSpPr>
          <p:cNvPr id="7" name="MASSIVE / Game interpretation">
            <a:extLst xmlns:a="http://schemas.openxmlformats.org/drawingml/2006/main">
              <a:ext uri="{FF2B5EF4-FFF2-40B4-BE49-F238E27FC236}">
                <a16:creationId xmlns:a16="http://schemas.microsoft.com/office/drawing/2014/main" id="{D3ECD593-23DB-4584-91EE-D1C879E5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19750"/>
            <a:ext cx="525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68685F"/>
                </a:solidFill>
                <a:latin typeface="Input Mono"/>
                <a:ea typeface="Input Mono"/>
                <a:cs typeface="Input Mono"/>
              </a:rPr>
              <a:t>MASSIVE / Game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27916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e plane&#10;folds">
            <a:extLst xmlns:a="http://schemas.openxmlformats.org/drawingml/2006/main">
              <a:ext uri="{FF2B5EF4-FFF2-40B4-BE49-F238E27FC236}">
                <a16:creationId xmlns:a16="http://schemas.microsoft.com/office/drawing/2014/main" id="{9682FB63-C8BB-4343-9880-C3CFC350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7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67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The plane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67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675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folds</a:t>
            </a:r>
          </a:p>
        </p:txBody>
      </p:sp>
      <p:sp>
        <p:nvSpPr>
          <p:cNvPr id="2" name="layout background">
            <a:extLst xmlns:a="http://schemas.openxmlformats.org/drawingml/2006/main">
              <a:ext uri="{FF2B5EF4-FFF2-40B4-BE49-F238E27FC236}">
                <a16:creationId xmlns:a16="http://schemas.microsoft.com/office/drawing/2014/main" id="{69184E81-E7C1-40E4-93FA-35FC644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9600"/>
            <a:ext cx="56769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BAA9D-161F-4718-8A80-53AC437A6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c696a55064b4a"/>
          <a:stretch xmlns:a="http://schemas.openxmlformats.org/drawingml/2006/main"/>
        </p:blipFill>
        <p:spPr>
          <a:xfrm xmlns:a="http://schemas.openxmlformats.org/drawingml/2006/main">
            <a:off x="5981700" y="1214438"/>
            <a:ext cx="5524500" cy="4143375"/>
          </a:xfrm>
          <a:prstGeom xmlns:a="http://schemas.openxmlformats.org/drawingml/2006/main" prst="rect">
            <a:avLst/>
          </a:prstGeom>
        </p:spPr>
      </p:pic>
      <p:sp>
        <p:nvSpPr>
          <p:cNvPr id="4" name="Same player.&#10;A different connection.">
            <a:extLst xmlns:a="http://schemas.openxmlformats.org/drawingml/2006/main">
              <a:ext uri="{FF2B5EF4-FFF2-40B4-BE49-F238E27FC236}">
                <a16:creationId xmlns:a16="http://schemas.microsoft.com/office/drawing/2014/main" id="{ED8C1E72-474E-4F94-AFD8-5EE10851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92923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292923"/>
                </a:solidFill>
                <a:latin typeface="Input Mono"/>
                <a:ea typeface="Input Mono"/>
                <a:cs typeface="Input Mono"/>
              </a:defRPr>
            </a:pPr>
            <a:r>
              <a:rPr sz="2400" b="0">
                <a:solidFill>
                  <a:srgbClr val="292923"/>
                </a:solidFill>
                <a:latin typeface="Input Mono"/>
                <a:ea typeface="Input Mono"/>
                <a:cs typeface="Input Mono"/>
              </a:rPr>
              <a:t>Same player.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292923"/>
                </a:solidFill>
                <a:latin typeface="Input Mono"/>
                <a:ea typeface="Input Mono"/>
                <a:cs typeface="Input Mono"/>
              </a:defRPr>
            </a:pPr>
            <a:r>
              <a:rPr sz="2400" b="0">
                <a:solidFill>
                  <a:srgbClr val="292923"/>
                </a:solidFill>
                <a:latin typeface="Input Mono"/>
                <a:ea typeface="Input Mono"/>
                <a:cs typeface="Input Mono"/>
              </a:rPr>
              <a:t>A different connection.</a:t>
            </a:r>
          </a:p>
        </p:txBody>
      </p:sp>
      <p:sp>
        <p:nvSpPr>
          <p:cNvPr id="5" name="07 / SINGULARITY / GEOMETRIC INTERPRETAT">
            <a:extLst xmlns:a="http://schemas.openxmlformats.org/drawingml/2006/main">
              <a:ext uri="{FF2B5EF4-FFF2-40B4-BE49-F238E27FC236}">
                <a16:creationId xmlns:a16="http://schemas.microsoft.com/office/drawing/2014/main" id="{E3264BFE-8810-4259-AFD6-2287B078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defRPr>
            </a:pPr>
            <a:r>
              <a:rPr sz="1350" b="0">
                <a:solidFill>
                  <a:srgbClr val="696960"/>
                </a:solidFill>
                <a:latin typeface="Input Mono"/>
                <a:ea typeface="Input Mono"/>
                <a:cs typeface="Input Mono"/>
              </a:rPr>
              <a:t>07 / SINGULARITY / GEOMETRIC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646901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tructures at different scales">
            <a:extLst xmlns:a="http://schemas.openxmlformats.org/drawingml/2006/main">
              <a:ext uri="{FF2B5EF4-FFF2-40B4-BE49-F238E27FC236}">
                <a16:creationId xmlns:a16="http://schemas.microsoft.com/office/drawing/2014/main" id="{55CA5A71-5D74-49B4-937C-8814CE57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48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Structures at different scales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45A2A-0498-4DC4-BF1C-D65A3959A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68ae53e5942d3"/>
          <a:stretch xmlns:a="http://schemas.openxmlformats.org/drawingml/2006/main"/>
        </p:blipFill>
        <p:spPr>
          <a:xfrm xmlns:a="http://schemas.openxmlformats.org/drawingml/2006/main">
            <a:off x="609600" y="1940719"/>
            <a:ext cx="5257800" cy="2957513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3761E-C1AB-4EE9-AFF8-031A0F940B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4bb5d9f00429d"/>
          <a:stretch xmlns:a="http://schemas.openxmlformats.org/drawingml/2006/main"/>
        </p:blipFill>
        <p:spPr>
          <a:xfrm xmlns:a="http://schemas.openxmlformats.org/drawingml/2006/main">
            <a:off x="6324600" y="1940719"/>
            <a:ext cx="5257800" cy="2957513"/>
          </a:xfrm>
          <a:prstGeom xmlns:a="http://schemas.openxmlformats.org/drawingml/2006/main" prst="rect">
            <a:avLst/>
          </a:prstGeom>
        </p:spPr>
      </p:pic>
      <p:sp>
        <p:nvSpPr>
          <p:cNvPr id="4" name="COSMOS">
            <a:extLst xmlns:a="http://schemas.openxmlformats.org/drawingml/2006/main">
              <a:ext uri="{FF2B5EF4-FFF2-40B4-BE49-F238E27FC236}">
                <a16:creationId xmlns:a16="http://schemas.microsoft.com/office/drawing/2014/main" id="{2E5F1B63-01F8-4310-85C7-8F980C47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COSMOS</a:t>
            </a:r>
          </a:p>
        </p:txBody>
      </p:sp>
      <p:sp>
        <p:nvSpPr>
          <p:cNvPr id="5" name="EMERGENCE">
            <a:extLst xmlns:a="http://schemas.openxmlformats.org/drawingml/2006/main">
              <a:ext uri="{FF2B5EF4-FFF2-40B4-BE49-F238E27FC236}">
                <a16:creationId xmlns:a16="http://schemas.microsoft.com/office/drawing/2014/main" id="{51FCF0A1-F1DF-4300-9271-62C21CAB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0542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27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EMERGENCE</a:t>
            </a:r>
          </a:p>
        </p:txBody>
      </p:sp>
      <p:sp>
        <p:nvSpPr>
          <p:cNvPr id="6" name="An evolving web">
            <a:extLst xmlns:a="http://schemas.openxmlformats.org/drawingml/2006/main">
              <a:ext uri="{FF2B5EF4-FFF2-40B4-BE49-F238E27FC236}">
                <a16:creationId xmlns:a16="http://schemas.microsoft.com/office/drawing/2014/main" id="{C7E9856C-1AF3-44BE-8F20-5D1CCACD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pPr>
            <a:r>
              <a:rPr sz="1725" b="0">
                <a:solidFill>
                  <a:srgbClr val="68685F"/>
                </a:solidFill>
                <a:latin typeface="Input Mono"/>
                <a:ea typeface="Input Mono"/>
                <a:cs typeface="Input Mono"/>
              </a:rPr>
              <a:t>An evolving web</a:t>
            </a:r>
          </a:p>
        </p:txBody>
      </p:sp>
      <p:sp>
        <p:nvSpPr>
          <p:cNvPr id="7" name="Local interactions">
            <a:extLst xmlns:a="http://schemas.openxmlformats.org/drawingml/2006/main">
              <a:ext uri="{FF2B5EF4-FFF2-40B4-BE49-F238E27FC236}">
                <a16:creationId xmlns:a16="http://schemas.microsoft.com/office/drawing/2014/main" id="{3BF46365-08B4-4F5D-A4C6-BCEA8FC5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57875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8685F"/>
                </a:solidFill>
                <a:latin typeface="Input Mono"/>
                <a:ea typeface="Input Mono"/>
                <a:cs typeface="Input Mono"/>
              </a:defRPr>
            </a:pPr>
            <a:r>
              <a:rPr sz="1725" b="0">
                <a:solidFill>
                  <a:srgbClr val="68685F"/>
                </a:solidFill>
                <a:latin typeface="Input Mono"/>
                <a:ea typeface="Input Mono"/>
                <a:cs typeface="Input Mono"/>
              </a:rPr>
              <a:t>Local interactions</a:t>
            </a:r>
          </a:p>
        </p:txBody>
      </p:sp>
    </p:spTree>
    <p:extLst>
      <p:ext uri="{BB962C8B-B14F-4D97-AF65-F5344CB8AC3E}">
        <p14:creationId xmlns:p14="http://schemas.microsoft.com/office/powerpoint/2010/main" val="20694291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 small place&#10;in a larger world">
            <a:extLst xmlns:a="http://schemas.openxmlformats.org/drawingml/2006/main">
              <a:ext uri="{FF2B5EF4-FFF2-40B4-BE49-F238E27FC236}">
                <a16:creationId xmlns:a16="http://schemas.microsoft.com/office/drawing/2014/main" id="{653B957C-B98F-42F7-822B-44E2EE35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3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3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83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A small place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3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83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in a larger world</a:t>
            </a:r>
          </a:p>
        </p:txBody>
      </p:sp>
      <p:sp>
        <p:nvSpPr>
          <p:cNvPr id="2" name="MASSIVE / MATT FRY">
            <a:extLst xmlns:a="http://schemas.openxmlformats.org/drawingml/2006/main">
              <a:ext uri="{FF2B5EF4-FFF2-40B4-BE49-F238E27FC236}">
                <a16:creationId xmlns:a16="http://schemas.microsoft.com/office/drawing/2014/main" id="{6B05A074-DDA8-4D17-854C-55D46E1F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5850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85850"/>
                </a:solidFill>
                <a:latin typeface="Input Mono"/>
                <a:ea typeface="Input Mono"/>
                <a:cs typeface="Input Mono"/>
              </a:defRPr>
            </a:pPr>
            <a:r>
              <a:rPr sz="1800" b="0">
                <a:solidFill>
                  <a:srgbClr val="585850"/>
                </a:solidFill>
                <a:latin typeface="Input Mono"/>
                <a:ea typeface="Input Mono"/>
                <a:cs typeface="Input Mono"/>
              </a:rPr>
              <a:t>MASSIVE / MATT FRY</a:t>
            </a:r>
          </a:p>
        </p:txBody>
      </p:sp>
    </p:spTree>
    <p:extLst>
      <p:ext uri="{BB962C8B-B14F-4D97-AF65-F5344CB8AC3E}">
        <p14:creationId xmlns:p14="http://schemas.microsoft.com/office/powerpoint/2010/main" val="2116326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2026-10-15T20:26:55.7000000Z</dcterms:created>
  <dcterms:modified xsi:type="dcterms:W3CDTF">2026-10-15T20:26:55.7000000Z</dcterms:modified>
</coreProperties>
</file>